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14"/>
  </p:notesMasterIdLst>
  <p:sldIdLst>
    <p:sldId id="271" r:id="rId2"/>
    <p:sldId id="257" r:id="rId3"/>
    <p:sldId id="258" r:id="rId4"/>
    <p:sldId id="259" r:id="rId5"/>
    <p:sldId id="260" r:id="rId6"/>
    <p:sldId id="261" r:id="rId7"/>
    <p:sldId id="262" r:id="rId8"/>
    <p:sldId id="265" r:id="rId9"/>
    <p:sldId id="263" r:id="rId10"/>
    <p:sldId id="264"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F3ED"/>
    <a:srgbClr val="602C08"/>
    <a:srgbClr val="E4E4E4"/>
    <a:srgbClr val="D7D7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75" autoAdjust="0"/>
    <p:restoredTop sz="93784" autoAdjust="0"/>
  </p:normalViewPr>
  <p:slideViewPr>
    <p:cSldViewPr snapToGrid="0">
      <p:cViewPr varScale="1">
        <p:scale>
          <a:sx n="60" d="100"/>
          <a:sy n="60" d="100"/>
        </p:scale>
        <p:origin x="56"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95DA3D-DA52-4B5B-B3D2-FCCC8C748FCE}" type="doc">
      <dgm:prSet loTypeId="urn:microsoft.com/office/officeart/2005/8/layout/vProcess5" loCatId="process" qsTypeId="urn:microsoft.com/office/officeart/2005/8/quickstyle/simple1" qsCatId="simple" csTypeId="urn:microsoft.com/office/officeart/2005/8/colors/accent3_2" csCatId="accent3" phldr="1"/>
      <dgm:spPr/>
      <dgm:t>
        <a:bodyPr/>
        <a:lstStyle/>
        <a:p>
          <a:endParaRPr lang="en-US"/>
        </a:p>
      </dgm:t>
    </dgm:pt>
    <dgm:pt modelId="{63815411-81A0-434C-81FB-D1A55C441847}">
      <dgm:prSet custT="1"/>
      <dgm:spPr/>
      <dgm:t>
        <a:bodyPr/>
        <a:lstStyle/>
        <a:p>
          <a:r>
            <a:rPr lang="en-US" sz="1400" dirty="0">
              <a:solidFill>
                <a:schemeClr val="tx1"/>
              </a:solidFill>
              <a:latin typeface="Times New Roman" panose="02020603050405020304" pitchFamily="18" charset="0"/>
              <a:cs typeface="Times New Roman" panose="02020603050405020304" pitchFamily="18" charset="0"/>
            </a:rPr>
            <a:t>Template Selection (4OBE), structural comparison with 6VJJ and introduced G12D mutation</a:t>
          </a:r>
        </a:p>
      </dgm:t>
    </dgm:pt>
    <dgm:pt modelId="{3A460EE8-531B-4EED-AA85-29EE8C17F47E}" type="parTrans" cxnId="{B7AE8CF3-8EF9-4073-8ACD-515745F0B292}">
      <dgm:prSet/>
      <dgm:spPr/>
      <dgm:t>
        <a:bodyPr/>
        <a:lstStyle/>
        <a:p>
          <a:endParaRPr lang="en-US"/>
        </a:p>
      </dgm:t>
    </dgm:pt>
    <dgm:pt modelId="{714EB718-9236-4B2A-85EC-E18F2E76EB09}" type="sibTrans" cxnId="{B7AE8CF3-8EF9-4073-8ACD-515745F0B292}">
      <dgm:prSet>
        <dgm:style>
          <a:lnRef idx="0">
            <a:scrgbClr r="0" g="0" b="0"/>
          </a:lnRef>
          <a:fillRef idx="0">
            <a:scrgbClr r="0" g="0" b="0"/>
          </a:fillRef>
          <a:effectRef idx="0">
            <a:scrgbClr r="0" g="0" b="0"/>
          </a:effectRef>
          <a:fontRef idx="minor">
            <a:schemeClr val="lt1"/>
          </a:fontRef>
        </dgm:style>
      </dgm:prSet>
      <dgm:spPr>
        <a:gradFill flip="none" rotWithShape="1">
          <a:gsLst>
            <a:gs pos="82000">
              <a:srgbClr val="B5B5B5">
                <a:alpha val="44000"/>
              </a:srgbClr>
            </a:gs>
            <a:gs pos="78617">
              <a:srgbClr val="BCBCBC"/>
            </a:gs>
            <a:gs pos="88768">
              <a:srgbClr val="C2C2C2"/>
            </a:gs>
            <a:gs pos="90000">
              <a:schemeClr val="accent3">
                <a:lumMod val="67000"/>
              </a:schemeClr>
            </a:gs>
            <a:gs pos="83000">
              <a:schemeClr val="accent3">
                <a:lumMod val="97000"/>
                <a:lumOff val="3000"/>
              </a:schemeClr>
            </a:gs>
            <a:gs pos="95000">
              <a:schemeClr val="accent3">
                <a:lumMod val="60000"/>
                <a:lumOff val="40000"/>
              </a:schemeClr>
            </a:gs>
          </a:gsLst>
          <a:lin ang="16200000" scaled="1"/>
          <a:tileRect/>
        </a:gradFill>
        <a:ln>
          <a:noFill/>
        </a:ln>
      </dgm:spPr>
      <dgm:t>
        <a:bodyPr/>
        <a:lstStyle/>
        <a:p>
          <a:endParaRPr lang="en-US"/>
        </a:p>
      </dgm:t>
    </dgm:pt>
    <dgm:pt modelId="{B13A66C1-C5EA-4940-BC17-CAC29377B408}">
      <dgm:prSet custT="1"/>
      <dgm:spPr/>
      <dgm:t>
        <a:bodyPr/>
        <a:lstStyle/>
        <a:p>
          <a:r>
            <a:rPr lang="en-US" sz="1400" dirty="0">
              <a:solidFill>
                <a:schemeClr val="tx1"/>
              </a:solidFill>
              <a:latin typeface="Times New Roman" panose="02020603050405020304" pitchFamily="18" charset="0"/>
              <a:cs typeface="Times New Roman" panose="02020603050405020304" pitchFamily="18" charset="0"/>
            </a:rPr>
            <a:t>Model Validation using </a:t>
          </a:r>
          <a:r>
            <a:rPr lang="en-US" sz="1400" dirty="0" err="1">
              <a:solidFill>
                <a:schemeClr val="tx1"/>
              </a:solidFill>
              <a:latin typeface="Times New Roman" panose="02020603050405020304" pitchFamily="18" charset="0"/>
              <a:cs typeface="Times New Roman" panose="02020603050405020304" pitchFamily="18" charset="0"/>
            </a:rPr>
            <a:t>MolProbity</a:t>
          </a:r>
          <a:r>
            <a:rPr lang="en-US" sz="1400" dirty="0">
              <a:solidFill>
                <a:schemeClr val="tx1"/>
              </a:solidFill>
              <a:latin typeface="Times New Roman" panose="02020603050405020304" pitchFamily="18" charset="0"/>
              <a:cs typeface="Times New Roman" panose="02020603050405020304" pitchFamily="18" charset="0"/>
            </a:rPr>
            <a:t>, ERRAT and Verify 3D and binding site definition using </a:t>
          </a:r>
          <a:r>
            <a:rPr lang="en-US" sz="1400" dirty="0" err="1">
              <a:solidFill>
                <a:schemeClr val="tx1"/>
              </a:solidFill>
              <a:latin typeface="Times New Roman" panose="02020603050405020304" pitchFamily="18" charset="0"/>
              <a:cs typeface="Times New Roman" panose="02020603050405020304" pitchFamily="18" charset="0"/>
            </a:rPr>
            <a:t>litrerature</a:t>
          </a:r>
          <a:endParaRPr lang="en-US" sz="1400" dirty="0">
            <a:solidFill>
              <a:schemeClr val="tx1"/>
            </a:solidFill>
            <a:latin typeface="Times New Roman" panose="02020603050405020304" pitchFamily="18" charset="0"/>
            <a:cs typeface="Times New Roman" panose="02020603050405020304" pitchFamily="18" charset="0"/>
          </a:endParaRPr>
        </a:p>
      </dgm:t>
    </dgm:pt>
    <dgm:pt modelId="{0402DC94-2DDB-4548-A959-555C04349443}" type="parTrans" cxnId="{1F376234-A4A8-42FF-B598-FBE8B2C253A8}">
      <dgm:prSet/>
      <dgm:spPr/>
      <dgm:t>
        <a:bodyPr/>
        <a:lstStyle/>
        <a:p>
          <a:endParaRPr lang="en-US"/>
        </a:p>
      </dgm:t>
    </dgm:pt>
    <dgm:pt modelId="{D09229E8-D688-468B-BA41-30B0E5462DC9}" type="sibTrans" cxnId="{1F376234-A4A8-42FF-B598-FBE8B2C253A8}">
      <dgm:prSet/>
      <dgm:spPr/>
      <dgm:t>
        <a:bodyPr/>
        <a:lstStyle/>
        <a:p>
          <a:endParaRPr lang="en-US"/>
        </a:p>
      </dgm:t>
    </dgm:pt>
    <dgm:pt modelId="{7FC96F04-D2C4-46B2-A419-CB80ED0FC4CF}">
      <dgm:prSet custT="1"/>
      <dgm:spPr/>
      <dgm:t>
        <a:bodyPr/>
        <a:lstStyle/>
        <a:p>
          <a:r>
            <a:rPr lang="en-US" sz="1400" dirty="0">
              <a:solidFill>
                <a:schemeClr val="tx1"/>
              </a:solidFill>
              <a:latin typeface="Times New Roman" panose="02020603050405020304" pitchFamily="18" charset="0"/>
              <a:cs typeface="Times New Roman" panose="02020603050405020304" pitchFamily="18" charset="0"/>
            </a:rPr>
            <a:t>Molecular Docking in 2 runs with same ligand and protein using </a:t>
          </a:r>
          <a:r>
            <a:rPr lang="en-US" sz="1400" dirty="0" err="1">
              <a:solidFill>
                <a:schemeClr val="tx1"/>
              </a:solidFill>
              <a:latin typeface="Times New Roman" panose="02020603050405020304" pitchFamily="18" charset="0"/>
              <a:cs typeface="Times New Roman" panose="02020603050405020304" pitchFamily="18" charset="0"/>
            </a:rPr>
            <a:t>Pyrx</a:t>
          </a:r>
          <a:r>
            <a:rPr lang="en-US" sz="1400" dirty="0">
              <a:solidFill>
                <a:schemeClr val="tx1"/>
              </a:solidFill>
              <a:latin typeface="Times New Roman" panose="02020603050405020304" pitchFamily="18" charset="0"/>
              <a:cs typeface="Times New Roman" panose="02020603050405020304" pitchFamily="18" charset="0"/>
            </a:rPr>
            <a:t> and identified the ligands lowest binding affinity</a:t>
          </a:r>
        </a:p>
      </dgm:t>
    </dgm:pt>
    <dgm:pt modelId="{3AFE71F4-3686-4A52-B79C-6DADB2E65454}" type="parTrans" cxnId="{AA3AD07B-F5FF-462B-BC7A-E14751FCBC2B}">
      <dgm:prSet/>
      <dgm:spPr/>
      <dgm:t>
        <a:bodyPr/>
        <a:lstStyle/>
        <a:p>
          <a:endParaRPr lang="en-US"/>
        </a:p>
      </dgm:t>
    </dgm:pt>
    <dgm:pt modelId="{290A07AA-5A7F-4394-9DDC-0A507C359E74}" type="sibTrans" cxnId="{AA3AD07B-F5FF-462B-BC7A-E14751FCBC2B}">
      <dgm:prSet/>
      <dgm:spPr/>
      <dgm:t>
        <a:bodyPr/>
        <a:lstStyle/>
        <a:p>
          <a:endParaRPr lang="en-US"/>
        </a:p>
      </dgm:t>
    </dgm:pt>
    <dgm:pt modelId="{212780E6-D1DA-4664-9E4F-D67514208CE7}">
      <dgm:prSet custT="1"/>
      <dgm:spPr/>
      <dgm:t>
        <a:bodyPr/>
        <a:lstStyle/>
        <a:p>
          <a:r>
            <a:rPr lang="en-US" sz="1400" dirty="0">
              <a:solidFill>
                <a:schemeClr val="tx1"/>
              </a:solidFill>
              <a:latin typeface="Times New Roman" panose="02020603050405020304" pitchFamily="18" charset="0"/>
              <a:cs typeface="Times New Roman" panose="02020603050405020304" pitchFamily="18" charset="0"/>
            </a:rPr>
            <a:t>Pose Reproducibility using </a:t>
          </a:r>
          <a:r>
            <a:rPr lang="en-US" sz="1400" dirty="0" err="1">
              <a:solidFill>
                <a:schemeClr val="tx1"/>
              </a:solidFill>
              <a:latin typeface="Times New Roman" panose="02020603050405020304" pitchFamily="18" charset="0"/>
              <a:cs typeface="Times New Roman" panose="02020603050405020304" pitchFamily="18" charset="0"/>
            </a:rPr>
            <a:t>PyMol</a:t>
          </a:r>
          <a:endParaRPr lang="en-US" sz="1400" dirty="0">
            <a:solidFill>
              <a:schemeClr val="tx1"/>
            </a:solidFill>
            <a:latin typeface="Times New Roman" panose="02020603050405020304" pitchFamily="18" charset="0"/>
            <a:cs typeface="Times New Roman" panose="02020603050405020304" pitchFamily="18" charset="0"/>
          </a:endParaRPr>
        </a:p>
      </dgm:t>
    </dgm:pt>
    <dgm:pt modelId="{F1FF1B19-510D-4E1F-AA21-DB2F87AF986D}" type="parTrans" cxnId="{9CF65EFC-DD8B-46E3-AF86-0A086A4E39C1}">
      <dgm:prSet/>
      <dgm:spPr/>
      <dgm:t>
        <a:bodyPr/>
        <a:lstStyle/>
        <a:p>
          <a:endParaRPr lang="en-US"/>
        </a:p>
      </dgm:t>
    </dgm:pt>
    <dgm:pt modelId="{6AC5BD63-B214-4B6B-83DE-5F991EE9FE5B}" type="sibTrans" cxnId="{9CF65EFC-DD8B-46E3-AF86-0A086A4E39C1}">
      <dgm:prSet/>
      <dgm:spPr/>
      <dgm:t>
        <a:bodyPr/>
        <a:lstStyle/>
        <a:p>
          <a:endParaRPr lang="en-US"/>
        </a:p>
      </dgm:t>
    </dgm:pt>
    <dgm:pt modelId="{A6C62620-2D26-41CF-97CB-022C074CFC1B}">
      <dgm:prSet custT="1"/>
      <dgm:spPr/>
      <dgm:t>
        <a:bodyPr/>
        <a:lstStyle/>
        <a:p>
          <a:r>
            <a:rPr lang="en-US" sz="1400" dirty="0">
              <a:solidFill>
                <a:schemeClr val="tx1"/>
              </a:solidFill>
              <a:latin typeface="Times New Roman" panose="02020603050405020304" pitchFamily="18" charset="0"/>
              <a:cs typeface="Times New Roman" panose="02020603050405020304" pitchFamily="18" charset="0"/>
            </a:rPr>
            <a:t>ADMET Prediction</a:t>
          </a:r>
        </a:p>
      </dgm:t>
    </dgm:pt>
    <dgm:pt modelId="{2CF6337B-E861-432C-A5F0-F5747155C64A}" type="parTrans" cxnId="{0369788B-9CA2-4EA8-9B6E-0DD348ECB87D}">
      <dgm:prSet/>
      <dgm:spPr/>
      <dgm:t>
        <a:bodyPr/>
        <a:lstStyle/>
        <a:p>
          <a:endParaRPr lang="en-US"/>
        </a:p>
      </dgm:t>
    </dgm:pt>
    <dgm:pt modelId="{9095DA57-12EC-4FB1-BB08-8DAFFA58593F}" type="sibTrans" cxnId="{0369788B-9CA2-4EA8-9B6E-0DD348ECB87D}">
      <dgm:prSet/>
      <dgm:spPr/>
      <dgm:t>
        <a:bodyPr/>
        <a:lstStyle/>
        <a:p>
          <a:endParaRPr lang="en-US"/>
        </a:p>
      </dgm:t>
    </dgm:pt>
    <dgm:pt modelId="{5384C1CF-4D19-4E1B-B589-39416E1E4A3C}" type="pres">
      <dgm:prSet presAssocID="{6C95DA3D-DA52-4B5B-B3D2-FCCC8C748FCE}" presName="outerComposite" presStyleCnt="0">
        <dgm:presLayoutVars>
          <dgm:chMax val="5"/>
          <dgm:dir/>
          <dgm:resizeHandles val="exact"/>
        </dgm:presLayoutVars>
      </dgm:prSet>
      <dgm:spPr/>
    </dgm:pt>
    <dgm:pt modelId="{7143BAEB-5242-4CE9-9C62-F36DC48586BB}" type="pres">
      <dgm:prSet presAssocID="{6C95DA3D-DA52-4B5B-B3D2-FCCC8C748FCE}" presName="dummyMaxCanvas" presStyleCnt="0">
        <dgm:presLayoutVars/>
      </dgm:prSet>
      <dgm:spPr/>
    </dgm:pt>
    <dgm:pt modelId="{2B3481C0-1A42-43E2-9564-BB767B1B38DC}" type="pres">
      <dgm:prSet presAssocID="{6C95DA3D-DA52-4B5B-B3D2-FCCC8C748FCE}" presName="FiveNodes_1" presStyleLbl="node1" presStyleIdx="0" presStyleCnt="5">
        <dgm:presLayoutVars>
          <dgm:bulletEnabled val="1"/>
        </dgm:presLayoutVars>
      </dgm:prSet>
      <dgm:spPr/>
    </dgm:pt>
    <dgm:pt modelId="{E9469672-10B7-43A3-8795-BBB6AB02BCD0}" type="pres">
      <dgm:prSet presAssocID="{6C95DA3D-DA52-4B5B-B3D2-FCCC8C748FCE}" presName="FiveNodes_2" presStyleLbl="node1" presStyleIdx="1" presStyleCnt="5">
        <dgm:presLayoutVars>
          <dgm:bulletEnabled val="1"/>
        </dgm:presLayoutVars>
      </dgm:prSet>
      <dgm:spPr/>
    </dgm:pt>
    <dgm:pt modelId="{D8EF637C-115C-4121-946E-1A5895EA679F}" type="pres">
      <dgm:prSet presAssocID="{6C95DA3D-DA52-4B5B-B3D2-FCCC8C748FCE}" presName="FiveNodes_3" presStyleLbl="node1" presStyleIdx="2" presStyleCnt="5">
        <dgm:presLayoutVars>
          <dgm:bulletEnabled val="1"/>
        </dgm:presLayoutVars>
      </dgm:prSet>
      <dgm:spPr/>
    </dgm:pt>
    <dgm:pt modelId="{F3D11E5C-11A7-496B-B542-6992CEA068D1}" type="pres">
      <dgm:prSet presAssocID="{6C95DA3D-DA52-4B5B-B3D2-FCCC8C748FCE}" presName="FiveNodes_4" presStyleLbl="node1" presStyleIdx="3" presStyleCnt="5" custLinFactNeighborX="1859" custLinFactNeighborY="-8103">
        <dgm:presLayoutVars>
          <dgm:bulletEnabled val="1"/>
        </dgm:presLayoutVars>
      </dgm:prSet>
      <dgm:spPr/>
    </dgm:pt>
    <dgm:pt modelId="{A9B02762-D5DC-49BB-950C-297418115F03}" type="pres">
      <dgm:prSet presAssocID="{6C95DA3D-DA52-4B5B-B3D2-FCCC8C748FCE}" presName="FiveNodes_5" presStyleLbl="node1" presStyleIdx="4" presStyleCnt="5">
        <dgm:presLayoutVars>
          <dgm:bulletEnabled val="1"/>
        </dgm:presLayoutVars>
      </dgm:prSet>
      <dgm:spPr/>
    </dgm:pt>
    <dgm:pt modelId="{8E0AE820-0563-4DE9-AFF8-E9612EF5795B}" type="pres">
      <dgm:prSet presAssocID="{6C95DA3D-DA52-4B5B-B3D2-FCCC8C748FCE}" presName="FiveConn_1-2" presStyleLbl="fgAccFollowNode1" presStyleIdx="0" presStyleCnt="4">
        <dgm:presLayoutVars>
          <dgm:bulletEnabled val="1"/>
        </dgm:presLayoutVars>
      </dgm:prSet>
      <dgm:spPr/>
    </dgm:pt>
    <dgm:pt modelId="{3ADCC023-7767-4544-80CA-6501E0BEE70D}" type="pres">
      <dgm:prSet presAssocID="{6C95DA3D-DA52-4B5B-B3D2-FCCC8C748FCE}" presName="FiveConn_2-3" presStyleLbl="fgAccFollowNode1" presStyleIdx="1" presStyleCnt="4">
        <dgm:presLayoutVars>
          <dgm:bulletEnabled val="1"/>
        </dgm:presLayoutVars>
      </dgm:prSet>
      <dgm:spPr/>
    </dgm:pt>
    <dgm:pt modelId="{00BCF9F6-4933-43B2-BD9C-DC45C5FA51C9}" type="pres">
      <dgm:prSet presAssocID="{6C95DA3D-DA52-4B5B-B3D2-FCCC8C748FCE}" presName="FiveConn_3-4" presStyleLbl="fgAccFollowNode1" presStyleIdx="2" presStyleCnt="4">
        <dgm:presLayoutVars>
          <dgm:bulletEnabled val="1"/>
        </dgm:presLayoutVars>
      </dgm:prSet>
      <dgm:spPr/>
    </dgm:pt>
    <dgm:pt modelId="{58757BBF-E5CC-480A-A8A9-4A3ED279E7DD}" type="pres">
      <dgm:prSet presAssocID="{6C95DA3D-DA52-4B5B-B3D2-FCCC8C748FCE}" presName="FiveConn_4-5" presStyleLbl="fgAccFollowNode1" presStyleIdx="3" presStyleCnt="4">
        <dgm:presLayoutVars>
          <dgm:bulletEnabled val="1"/>
        </dgm:presLayoutVars>
      </dgm:prSet>
      <dgm:spPr/>
    </dgm:pt>
    <dgm:pt modelId="{D454AA90-7B86-495C-8DE3-D53B3CA94258}" type="pres">
      <dgm:prSet presAssocID="{6C95DA3D-DA52-4B5B-B3D2-FCCC8C748FCE}" presName="FiveNodes_1_text" presStyleLbl="node1" presStyleIdx="4" presStyleCnt="5">
        <dgm:presLayoutVars>
          <dgm:bulletEnabled val="1"/>
        </dgm:presLayoutVars>
      </dgm:prSet>
      <dgm:spPr/>
    </dgm:pt>
    <dgm:pt modelId="{B5881C85-1807-44F0-8D09-87BA4F01417E}" type="pres">
      <dgm:prSet presAssocID="{6C95DA3D-DA52-4B5B-B3D2-FCCC8C748FCE}" presName="FiveNodes_2_text" presStyleLbl="node1" presStyleIdx="4" presStyleCnt="5">
        <dgm:presLayoutVars>
          <dgm:bulletEnabled val="1"/>
        </dgm:presLayoutVars>
      </dgm:prSet>
      <dgm:spPr/>
    </dgm:pt>
    <dgm:pt modelId="{E5800FB8-ABC6-48B5-BF25-7BBBF8471834}" type="pres">
      <dgm:prSet presAssocID="{6C95DA3D-DA52-4B5B-B3D2-FCCC8C748FCE}" presName="FiveNodes_3_text" presStyleLbl="node1" presStyleIdx="4" presStyleCnt="5">
        <dgm:presLayoutVars>
          <dgm:bulletEnabled val="1"/>
        </dgm:presLayoutVars>
      </dgm:prSet>
      <dgm:spPr/>
    </dgm:pt>
    <dgm:pt modelId="{3A674C06-EF76-4C42-B32B-2E09D6E73E45}" type="pres">
      <dgm:prSet presAssocID="{6C95DA3D-DA52-4B5B-B3D2-FCCC8C748FCE}" presName="FiveNodes_4_text" presStyleLbl="node1" presStyleIdx="4" presStyleCnt="5">
        <dgm:presLayoutVars>
          <dgm:bulletEnabled val="1"/>
        </dgm:presLayoutVars>
      </dgm:prSet>
      <dgm:spPr/>
    </dgm:pt>
    <dgm:pt modelId="{046F71B0-507F-4DF9-8D7A-5FFD72101989}" type="pres">
      <dgm:prSet presAssocID="{6C95DA3D-DA52-4B5B-B3D2-FCCC8C748FCE}" presName="FiveNodes_5_text" presStyleLbl="node1" presStyleIdx="4" presStyleCnt="5">
        <dgm:presLayoutVars>
          <dgm:bulletEnabled val="1"/>
        </dgm:presLayoutVars>
      </dgm:prSet>
      <dgm:spPr/>
    </dgm:pt>
  </dgm:ptLst>
  <dgm:cxnLst>
    <dgm:cxn modelId="{A334FC01-5E1E-4C40-8C12-F6914CD32308}" type="presOf" srcId="{714EB718-9236-4B2A-85EC-E18F2E76EB09}" destId="{8E0AE820-0563-4DE9-AFF8-E9612EF5795B}" srcOrd="0" destOrd="0" presId="urn:microsoft.com/office/officeart/2005/8/layout/vProcess5"/>
    <dgm:cxn modelId="{54922007-516D-44E7-B24A-F9855EBA1B50}" type="presOf" srcId="{63815411-81A0-434C-81FB-D1A55C441847}" destId="{2B3481C0-1A42-43E2-9564-BB767B1B38DC}" srcOrd="0" destOrd="0" presId="urn:microsoft.com/office/officeart/2005/8/layout/vProcess5"/>
    <dgm:cxn modelId="{757A450D-A5AD-4112-8342-70C04331207F}" type="presOf" srcId="{212780E6-D1DA-4664-9E4F-D67514208CE7}" destId="{3A674C06-EF76-4C42-B32B-2E09D6E73E45}" srcOrd="1" destOrd="0" presId="urn:microsoft.com/office/officeart/2005/8/layout/vProcess5"/>
    <dgm:cxn modelId="{5D320024-218F-4C53-BDA4-0AA8B026712F}" type="presOf" srcId="{B13A66C1-C5EA-4940-BC17-CAC29377B408}" destId="{E9469672-10B7-43A3-8795-BBB6AB02BCD0}" srcOrd="0" destOrd="0" presId="urn:microsoft.com/office/officeart/2005/8/layout/vProcess5"/>
    <dgm:cxn modelId="{1F376234-A4A8-42FF-B598-FBE8B2C253A8}" srcId="{6C95DA3D-DA52-4B5B-B3D2-FCCC8C748FCE}" destId="{B13A66C1-C5EA-4940-BC17-CAC29377B408}" srcOrd="1" destOrd="0" parTransId="{0402DC94-2DDB-4548-A959-555C04349443}" sibTransId="{D09229E8-D688-468B-BA41-30B0E5462DC9}"/>
    <dgm:cxn modelId="{8DEA7645-D0C9-4E58-BBEC-870ABD05A486}" type="presOf" srcId="{6C95DA3D-DA52-4B5B-B3D2-FCCC8C748FCE}" destId="{5384C1CF-4D19-4E1B-B589-39416E1E4A3C}" srcOrd="0" destOrd="0" presId="urn:microsoft.com/office/officeart/2005/8/layout/vProcess5"/>
    <dgm:cxn modelId="{52F1566A-8A10-48DD-B3E1-6E8B9CCADF7D}" type="presOf" srcId="{212780E6-D1DA-4664-9E4F-D67514208CE7}" destId="{F3D11E5C-11A7-496B-B542-6992CEA068D1}" srcOrd="0" destOrd="0" presId="urn:microsoft.com/office/officeart/2005/8/layout/vProcess5"/>
    <dgm:cxn modelId="{AF2F4A70-E795-43A6-861B-981B3CCB3EA3}" type="presOf" srcId="{7FC96F04-D2C4-46B2-A419-CB80ED0FC4CF}" destId="{D8EF637C-115C-4121-946E-1A5895EA679F}" srcOrd="0" destOrd="0" presId="urn:microsoft.com/office/officeart/2005/8/layout/vProcess5"/>
    <dgm:cxn modelId="{5B99FE73-D497-4AF8-9BBC-FF646DBBB5FA}" type="presOf" srcId="{A6C62620-2D26-41CF-97CB-022C074CFC1B}" destId="{046F71B0-507F-4DF9-8D7A-5FFD72101989}" srcOrd="1" destOrd="0" presId="urn:microsoft.com/office/officeart/2005/8/layout/vProcess5"/>
    <dgm:cxn modelId="{3B23CA59-8848-41F8-A211-C522B6F27F9B}" type="presOf" srcId="{290A07AA-5A7F-4394-9DDC-0A507C359E74}" destId="{00BCF9F6-4933-43B2-BD9C-DC45C5FA51C9}" srcOrd="0" destOrd="0" presId="urn:microsoft.com/office/officeart/2005/8/layout/vProcess5"/>
    <dgm:cxn modelId="{819D317B-65F8-4E96-97B0-11BA2E38C55B}" type="presOf" srcId="{B13A66C1-C5EA-4940-BC17-CAC29377B408}" destId="{B5881C85-1807-44F0-8D09-87BA4F01417E}" srcOrd="1" destOrd="0" presId="urn:microsoft.com/office/officeart/2005/8/layout/vProcess5"/>
    <dgm:cxn modelId="{AA3AD07B-F5FF-462B-BC7A-E14751FCBC2B}" srcId="{6C95DA3D-DA52-4B5B-B3D2-FCCC8C748FCE}" destId="{7FC96F04-D2C4-46B2-A419-CB80ED0FC4CF}" srcOrd="2" destOrd="0" parTransId="{3AFE71F4-3686-4A52-B79C-6DADB2E65454}" sibTransId="{290A07AA-5A7F-4394-9DDC-0A507C359E74}"/>
    <dgm:cxn modelId="{0369788B-9CA2-4EA8-9B6E-0DD348ECB87D}" srcId="{6C95DA3D-DA52-4B5B-B3D2-FCCC8C748FCE}" destId="{A6C62620-2D26-41CF-97CB-022C074CFC1B}" srcOrd="4" destOrd="0" parTransId="{2CF6337B-E861-432C-A5F0-F5747155C64A}" sibTransId="{9095DA57-12EC-4FB1-BB08-8DAFFA58593F}"/>
    <dgm:cxn modelId="{583E598D-AD2C-4C31-9657-5BACF6BE9E97}" type="presOf" srcId="{6AC5BD63-B214-4B6B-83DE-5F991EE9FE5B}" destId="{58757BBF-E5CC-480A-A8A9-4A3ED279E7DD}" srcOrd="0" destOrd="0" presId="urn:microsoft.com/office/officeart/2005/8/layout/vProcess5"/>
    <dgm:cxn modelId="{2552C296-CA1F-49AA-A2C5-0FA844E11DE2}" type="presOf" srcId="{7FC96F04-D2C4-46B2-A419-CB80ED0FC4CF}" destId="{E5800FB8-ABC6-48B5-BF25-7BBBF8471834}" srcOrd="1" destOrd="0" presId="urn:microsoft.com/office/officeart/2005/8/layout/vProcess5"/>
    <dgm:cxn modelId="{9A5C69A2-7F85-49AD-8589-67C07DDA709C}" type="presOf" srcId="{A6C62620-2D26-41CF-97CB-022C074CFC1B}" destId="{A9B02762-D5DC-49BB-950C-297418115F03}" srcOrd="0" destOrd="0" presId="urn:microsoft.com/office/officeart/2005/8/layout/vProcess5"/>
    <dgm:cxn modelId="{454E32C0-B4C0-4FB6-9509-29CEDE816041}" type="presOf" srcId="{63815411-81A0-434C-81FB-D1A55C441847}" destId="{D454AA90-7B86-495C-8DE3-D53B3CA94258}" srcOrd="1" destOrd="0" presId="urn:microsoft.com/office/officeart/2005/8/layout/vProcess5"/>
    <dgm:cxn modelId="{1812EDE1-BA5B-47A1-B8B0-B2587D37C0ED}" type="presOf" srcId="{D09229E8-D688-468B-BA41-30B0E5462DC9}" destId="{3ADCC023-7767-4544-80CA-6501E0BEE70D}" srcOrd="0" destOrd="0" presId="urn:microsoft.com/office/officeart/2005/8/layout/vProcess5"/>
    <dgm:cxn modelId="{B7AE8CF3-8EF9-4073-8ACD-515745F0B292}" srcId="{6C95DA3D-DA52-4B5B-B3D2-FCCC8C748FCE}" destId="{63815411-81A0-434C-81FB-D1A55C441847}" srcOrd="0" destOrd="0" parTransId="{3A460EE8-531B-4EED-AA85-29EE8C17F47E}" sibTransId="{714EB718-9236-4B2A-85EC-E18F2E76EB09}"/>
    <dgm:cxn modelId="{9CF65EFC-DD8B-46E3-AF86-0A086A4E39C1}" srcId="{6C95DA3D-DA52-4B5B-B3D2-FCCC8C748FCE}" destId="{212780E6-D1DA-4664-9E4F-D67514208CE7}" srcOrd="3" destOrd="0" parTransId="{F1FF1B19-510D-4E1F-AA21-DB2F87AF986D}" sibTransId="{6AC5BD63-B214-4B6B-83DE-5F991EE9FE5B}"/>
    <dgm:cxn modelId="{A6926E74-65A4-4F4F-B2DC-17AA7A7C2A62}" type="presParOf" srcId="{5384C1CF-4D19-4E1B-B589-39416E1E4A3C}" destId="{7143BAEB-5242-4CE9-9C62-F36DC48586BB}" srcOrd="0" destOrd="0" presId="urn:microsoft.com/office/officeart/2005/8/layout/vProcess5"/>
    <dgm:cxn modelId="{045EE04A-7C44-4182-B369-2C170A561D07}" type="presParOf" srcId="{5384C1CF-4D19-4E1B-B589-39416E1E4A3C}" destId="{2B3481C0-1A42-43E2-9564-BB767B1B38DC}" srcOrd="1" destOrd="0" presId="urn:microsoft.com/office/officeart/2005/8/layout/vProcess5"/>
    <dgm:cxn modelId="{917ED67A-2594-44FB-9008-C582EB553FBA}" type="presParOf" srcId="{5384C1CF-4D19-4E1B-B589-39416E1E4A3C}" destId="{E9469672-10B7-43A3-8795-BBB6AB02BCD0}" srcOrd="2" destOrd="0" presId="urn:microsoft.com/office/officeart/2005/8/layout/vProcess5"/>
    <dgm:cxn modelId="{CF4E2002-4573-449D-ADF2-1CEB695D4D65}" type="presParOf" srcId="{5384C1CF-4D19-4E1B-B589-39416E1E4A3C}" destId="{D8EF637C-115C-4121-946E-1A5895EA679F}" srcOrd="3" destOrd="0" presId="urn:microsoft.com/office/officeart/2005/8/layout/vProcess5"/>
    <dgm:cxn modelId="{27CE0ED5-099A-4C2B-B16B-0B47A6323718}" type="presParOf" srcId="{5384C1CF-4D19-4E1B-B589-39416E1E4A3C}" destId="{F3D11E5C-11A7-496B-B542-6992CEA068D1}" srcOrd="4" destOrd="0" presId="urn:microsoft.com/office/officeart/2005/8/layout/vProcess5"/>
    <dgm:cxn modelId="{062EB950-3A2B-434B-BFE7-CCB00135F1B6}" type="presParOf" srcId="{5384C1CF-4D19-4E1B-B589-39416E1E4A3C}" destId="{A9B02762-D5DC-49BB-950C-297418115F03}" srcOrd="5" destOrd="0" presId="urn:microsoft.com/office/officeart/2005/8/layout/vProcess5"/>
    <dgm:cxn modelId="{6F1AE386-A962-430E-90A0-188900AFEA4F}" type="presParOf" srcId="{5384C1CF-4D19-4E1B-B589-39416E1E4A3C}" destId="{8E0AE820-0563-4DE9-AFF8-E9612EF5795B}" srcOrd="6" destOrd="0" presId="urn:microsoft.com/office/officeart/2005/8/layout/vProcess5"/>
    <dgm:cxn modelId="{E9499ADE-DFDC-4C14-98AC-4118FF36BE1E}" type="presParOf" srcId="{5384C1CF-4D19-4E1B-B589-39416E1E4A3C}" destId="{3ADCC023-7767-4544-80CA-6501E0BEE70D}" srcOrd="7" destOrd="0" presId="urn:microsoft.com/office/officeart/2005/8/layout/vProcess5"/>
    <dgm:cxn modelId="{7A523788-0BDE-40BC-88A0-8765581ECE73}" type="presParOf" srcId="{5384C1CF-4D19-4E1B-B589-39416E1E4A3C}" destId="{00BCF9F6-4933-43B2-BD9C-DC45C5FA51C9}" srcOrd="8" destOrd="0" presId="urn:microsoft.com/office/officeart/2005/8/layout/vProcess5"/>
    <dgm:cxn modelId="{6F09DA89-B45A-40F7-9032-7EBD38DA3123}" type="presParOf" srcId="{5384C1CF-4D19-4E1B-B589-39416E1E4A3C}" destId="{58757BBF-E5CC-480A-A8A9-4A3ED279E7DD}" srcOrd="9" destOrd="0" presId="urn:microsoft.com/office/officeart/2005/8/layout/vProcess5"/>
    <dgm:cxn modelId="{8134395B-1684-48A0-B92F-D63730B6C8A5}" type="presParOf" srcId="{5384C1CF-4D19-4E1B-B589-39416E1E4A3C}" destId="{D454AA90-7B86-495C-8DE3-D53B3CA94258}" srcOrd="10" destOrd="0" presId="urn:microsoft.com/office/officeart/2005/8/layout/vProcess5"/>
    <dgm:cxn modelId="{7C33FE9A-A574-4A40-B691-F14F1D0781A6}" type="presParOf" srcId="{5384C1CF-4D19-4E1B-B589-39416E1E4A3C}" destId="{B5881C85-1807-44F0-8D09-87BA4F01417E}" srcOrd="11" destOrd="0" presId="urn:microsoft.com/office/officeart/2005/8/layout/vProcess5"/>
    <dgm:cxn modelId="{00B37832-C837-4963-9EB3-6B6D29442CE1}" type="presParOf" srcId="{5384C1CF-4D19-4E1B-B589-39416E1E4A3C}" destId="{E5800FB8-ABC6-48B5-BF25-7BBBF8471834}" srcOrd="12" destOrd="0" presId="urn:microsoft.com/office/officeart/2005/8/layout/vProcess5"/>
    <dgm:cxn modelId="{7A2C61F3-C681-4AD3-A38F-4BE30E5C7F25}" type="presParOf" srcId="{5384C1CF-4D19-4E1B-B589-39416E1E4A3C}" destId="{3A674C06-EF76-4C42-B32B-2E09D6E73E45}" srcOrd="13" destOrd="0" presId="urn:microsoft.com/office/officeart/2005/8/layout/vProcess5"/>
    <dgm:cxn modelId="{6419D970-6695-4623-9D01-22AB72458A62}" type="presParOf" srcId="{5384C1CF-4D19-4E1B-B589-39416E1E4A3C}" destId="{046F71B0-507F-4DF9-8D7A-5FFD72101989}"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3481C0-1A42-43E2-9564-BB767B1B38DC}">
      <dsp:nvSpPr>
        <dsp:cNvPr id="0" name=""/>
        <dsp:cNvSpPr/>
      </dsp:nvSpPr>
      <dsp:spPr>
        <a:xfrm>
          <a:off x="0" y="0"/>
          <a:ext cx="6061531" cy="56078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tx1"/>
              </a:solidFill>
              <a:latin typeface="Times New Roman" panose="02020603050405020304" pitchFamily="18" charset="0"/>
              <a:cs typeface="Times New Roman" panose="02020603050405020304" pitchFamily="18" charset="0"/>
            </a:rPr>
            <a:t>Template Selection (4OBE), structural comparison with 6VJJ and introduced G12D mutation</a:t>
          </a:r>
        </a:p>
      </dsp:txBody>
      <dsp:txXfrm>
        <a:off x="16425" y="16425"/>
        <a:ext cx="5390786" cy="527937"/>
      </dsp:txXfrm>
    </dsp:sp>
    <dsp:sp modelId="{E9469672-10B7-43A3-8795-BBB6AB02BCD0}">
      <dsp:nvSpPr>
        <dsp:cNvPr id="0" name=""/>
        <dsp:cNvSpPr/>
      </dsp:nvSpPr>
      <dsp:spPr>
        <a:xfrm>
          <a:off x="452646" y="638674"/>
          <a:ext cx="6061531" cy="56078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tx1"/>
              </a:solidFill>
              <a:latin typeface="Times New Roman" panose="02020603050405020304" pitchFamily="18" charset="0"/>
              <a:cs typeface="Times New Roman" panose="02020603050405020304" pitchFamily="18" charset="0"/>
            </a:rPr>
            <a:t>Model Validation using </a:t>
          </a:r>
          <a:r>
            <a:rPr lang="en-US" sz="1400" kern="1200" dirty="0" err="1">
              <a:solidFill>
                <a:schemeClr val="tx1"/>
              </a:solidFill>
              <a:latin typeface="Times New Roman" panose="02020603050405020304" pitchFamily="18" charset="0"/>
              <a:cs typeface="Times New Roman" panose="02020603050405020304" pitchFamily="18" charset="0"/>
            </a:rPr>
            <a:t>MolProbity</a:t>
          </a:r>
          <a:r>
            <a:rPr lang="en-US" sz="1400" kern="1200" dirty="0">
              <a:solidFill>
                <a:schemeClr val="tx1"/>
              </a:solidFill>
              <a:latin typeface="Times New Roman" panose="02020603050405020304" pitchFamily="18" charset="0"/>
              <a:cs typeface="Times New Roman" panose="02020603050405020304" pitchFamily="18" charset="0"/>
            </a:rPr>
            <a:t>, ERRAT and Verify 3D and binding site definition using </a:t>
          </a:r>
          <a:r>
            <a:rPr lang="en-US" sz="1400" kern="1200" dirty="0" err="1">
              <a:solidFill>
                <a:schemeClr val="tx1"/>
              </a:solidFill>
              <a:latin typeface="Times New Roman" panose="02020603050405020304" pitchFamily="18" charset="0"/>
              <a:cs typeface="Times New Roman" panose="02020603050405020304" pitchFamily="18" charset="0"/>
            </a:rPr>
            <a:t>litrerature</a:t>
          </a:r>
          <a:endParaRPr lang="en-US" sz="1400" kern="1200" dirty="0">
            <a:solidFill>
              <a:schemeClr val="tx1"/>
            </a:solidFill>
            <a:latin typeface="Times New Roman" panose="02020603050405020304" pitchFamily="18" charset="0"/>
            <a:cs typeface="Times New Roman" panose="02020603050405020304" pitchFamily="18" charset="0"/>
          </a:endParaRPr>
        </a:p>
      </dsp:txBody>
      <dsp:txXfrm>
        <a:off x="469071" y="655099"/>
        <a:ext cx="5211523" cy="527937"/>
      </dsp:txXfrm>
    </dsp:sp>
    <dsp:sp modelId="{D8EF637C-115C-4121-946E-1A5895EA679F}">
      <dsp:nvSpPr>
        <dsp:cNvPr id="0" name=""/>
        <dsp:cNvSpPr/>
      </dsp:nvSpPr>
      <dsp:spPr>
        <a:xfrm>
          <a:off x="905293" y="1277348"/>
          <a:ext cx="6061531" cy="56078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tx1"/>
              </a:solidFill>
              <a:latin typeface="Times New Roman" panose="02020603050405020304" pitchFamily="18" charset="0"/>
              <a:cs typeface="Times New Roman" panose="02020603050405020304" pitchFamily="18" charset="0"/>
            </a:rPr>
            <a:t>Molecular Docking in 2 runs with same ligand and protein using </a:t>
          </a:r>
          <a:r>
            <a:rPr lang="en-US" sz="1400" kern="1200" dirty="0" err="1">
              <a:solidFill>
                <a:schemeClr val="tx1"/>
              </a:solidFill>
              <a:latin typeface="Times New Roman" panose="02020603050405020304" pitchFamily="18" charset="0"/>
              <a:cs typeface="Times New Roman" panose="02020603050405020304" pitchFamily="18" charset="0"/>
            </a:rPr>
            <a:t>Pyrx</a:t>
          </a:r>
          <a:r>
            <a:rPr lang="en-US" sz="1400" kern="1200" dirty="0">
              <a:solidFill>
                <a:schemeClr val="tx1"/>
              </a:solidFill>
              <a:latin typeface="Times New Roman" panose="02020603050405020304" pitchFamily="18" charset="0"/>
              <a:cs typeface="Times New Roman" panose="02020603050405020304" pitchFamily="18" charset="0"/>
            </a:rPr>
            <a:t> and identified the ligands lowest binding affinity</a:t>
          </a:r>
        </a:p>
      </dsp:txBody>
      <dsp:txXfrm>
        <a:off x="921718" y="1293773"/>
        <a:ext cx="5211523" cy="527937"/>
      </dsp:txXfrm>
    </dsp:sp>
    <dsp:sp modelId="{F3D11E5C-11A7-496B-B542-6992CEA068D1}">
      <dsp:nvSpPr>
        <dsp:cNvPr id="0" name=""/>
        <dsp:cNvSpPr/>
      </dsp:nvSpPr>
      <dsp:spPr>
        <a:xfrm>
          <a:off x="1470624" y="1870582"/>
          <a:ext cx="6061531" cy="56078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tx1"/>
              </a:solidFill>
              <a:latin typeface="Times New Roman" panose="02020603050405020304" pitchFamily="18" charset="0"/>
              <a:cs typeface="Times New Roman" panose="02020603050405020304" pitchFamily="18" charset="0"/>
            </a:rPr>
            <a:t>Pose Reproducibility using </a:t>
          </a:r>
          <a:r>
            <a:rPr lang="en-US" sz="1400" kern="1200" dirty="0" err="1">
              <a:solidFill>
                <a:schemeClr val="tx1"/>
              </a:solidFill>
              <a:latin typeface="Times New Roman" panose="02020603050405020304" pitchFamily="18" charset="0"/>
              <a:cs typeface="Times New Roman" panose="02020603050405020304" pitchFamily="18" charset="0"/>
            </a:rPr>
            <a:t>PyMol</a:t>
          </a:r>
          <a:endParaRPr lang="en-US" sz="1400" kern="1200" dirty="0">
            <a:solidFill>
              <a:schemeClr val="tx1"/>
            </a:solidFill>
            <a:latin typeface="Times New Roman" panose="02020603050405020304" pitchFamily="18" charset="0"/>
            <a:cs typeface="Times New Roman" panose="02020603050405020304" pitchFamily="18" charset="0"/>
          </a:endParaRPr>
        </a:p>
      </dsp:txBody>
      <dsp:txXfrm>
        <a:off x="1487049" y="1887007"/>
        <a:ext cx="5211523" cy="527937"/>
      </dsp:txXfrm>
    </dsp:sp>
    <dsp:sp modelId="{A9B02762-D5DC-49BB-950C-297418115F03}">
      <dsp:nvSpPr>
        <dsp:cNvPr id="0" name=""/>
        <dsp:cNvSpPr/>
      </dsp:nvSpPr>
      <dsp:spPr>
        <a:xfrm>
          <a:off x="1810587" y="2554696"/>
          <a:ext cx="6061531" cy="56078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tx1"/>
              </a:solidFill>
              <a:latin typeface="Times New Roman" panose="02020603050405020304" pitchFamily="18" charset="0"/>
              <a:cs typeface="Times New Roman" panose="02020603050405020304" pitchFamily="18" charset="0"/>
            </a:rPr>
            <a:t>ADMET Prediction</a:t>
          </a:r>
        </a:p>
      </dsp:txBody>
      <dsp:txXfrm>
        <a:off x="1827012" y="2571121"/>
        <a:ext cx="5211523" cy="527937"/>
      </dsp:txXfrm>
    </dsp:sp>
    <dsp:sp modelId="{8E0AE820-0563-4DE9-AFF8-E9612EF5795B}">
      <dsp:nvSpPr>
        <dsp:cNvPr id="0" name=""/>
        <dsp:cNvSpPr/>
      </dsp:nvSpPr>
      <dsp:spPr>
        <a:xfrm>
          <a:off x="5697020" y="409686"/>
          <a:ext cx="364511" cy="364511"/>
        </a:xfrm>
        <a:prstGeom prst="downArrow">
          <a:avLst>
            <a:gd name="adj1" fmla="val 55000"/>
            <a:gd name="adj2" fmla="val 45000"/>
          </a:avLst>
        </a:prstGeom>
        <a:gradFill flip="none" rotWithShape="1">
          <a:gsLst>
            <a:gs pos="82000">
              <a:srgbClr val="B5B5B5">
                <a:alpha val="44000"/>
              </a:srgbClr>
            </a:gs>
            <a:gs pos="78617">
              <a:srgbClr val="BCBCBC"/>
            </a:gs>
            <a:gs pos="88768">
              <a:srgbClr val="C2C2C2"/>
            </a:gs>
            <a:gs pos="90000">
              <a:schemeClr val="accent3">
                <a:lumMod val="67000"/>
              </a:schemeClr>
            </a:gs>
            <a:gs pos="83000">
              <a:schemeClr val="accent3">
                <a:lumMod val="97000"/>
                <a:lumOff val="3000"/>
              </a:schemeClr>
            </a:gs>
            <a:gs pos="95000">
              <a:schemeClr val="accent3">
                <a:lumMod val="60000"/>
                <a:lumOff val="40000"/>
              </a:schemeClr>
            </a:gs>
          </a:gsLst>
          <a:lin ang="16200000" scaled="1"/>
          <a:tileRect/>
        </a:gra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5779035" y="409686"/>
        <a:ext cx="200481" cy="274295"/>
      </dsp:txXfrm>
    </dsp:sp>
    <dsp:sp modelId="{3ADCC023-7767-4544-80CA-6501E0BEE70D}">
      <dsp:nvSpPr>
        <dsp:cNvPr id="0" name=""/>
        <dsp:cNvSpPr/>
      </dsp:nvSpPr>
      <dsp:spPr>
        <a:xfrm>
          <a:off x="6149666" y="1048360"/>
          <a:ext cx="364511" cy="364511"/>
        </a:xfrm>
        <a:prstGeom prst="downArrow">
          <a:avLst>
            <a:gd name="adj1" fmla="val 55000"/>
            <a:gd name="adj2" fmla="val 45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6231681" y="1048360"/>
        <a:ext cx="200481" cy="274295"/>
      </dsp:txXfrm>
    </dsp:sp>
    <dsp:sp modelId="{00BCF9F6-4933-43B2-BD9C-DC45C5FA51C9}">
      <dsp:nvSpPr>
        <dsp:cNvPr id="0" name=""/>
        <dsp:cNvSpPr/>
      </dsp:nvSpPr>
      <dsp:spPr>
        <a:xfrm>
          <a:off x="6602313" y="1677688"/>
          <a:ext cx="364511" cy="364511"/>
        </a:xfrm>
        <a:prstGeom prst="downArrow">
          <a:avLst>
            <a:gd name="adj1" fmla="val 55000"/>
            <a:gd name="adj2" fmla="val 45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6684328" y="1677688"/>
        <a:ext cx="200481" cy="274295"/>
      </dsp:txXfrm>
    </dsp:sp>
    <dsp:sp modelId="{58757BBF-E5CC-480A-A8A9-4A3ED279E7DD}">
      <dsp:nvSpPr>
        <dsp:cNvPr id="0" name=""/>
        <dsp:cNvSpPr/>
      </dsp:nvSpPr>
      <dsp:spPr>
        <a:xfrm>
          <a:off x="7054960" y="2322593"/>
          <a:ext cx="364511" cy="364511"/>
        </a:xfrm>
        <a:prstGeom prst="downArrow">
          <a:avLst>
            <a:gd name="adj1" fmla="val 55000"/>
            <a:gd name="adj2" fmla="val 45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7136975" y="2322593"/>
        <a:ext cx="200481" cy="274295"/>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1900C5-3D7E-4482-AE7A-031305E5E729}" type="datetimeFigureOut">
              <a:rPr lang="en-US" smtClean="0"/>
              <a:t>8/15/2026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3CA9A1-F7CC-41DC-A56B-740D2D1BA68F}" type="slidenum">
              <a:rPr lang="en-US" smtClean="0"/>
              <a:t>‹#›</a:t>
            </a:fld>
            <a:endParaRPr lang="en-US"/>
          </a:p>
        </p:txBody>
      </p:sp>
    </p:spTree>
    <p:extLst>
      <p:ext uri="{BB962C8B-B14F-4D97-AF65-F5344CB8AC3E}">
        <p14:creationId xmlns:p14="http://schemas.microsoft.com/office/powerpoint/2010/main" val="494340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3CA9A1-F7CC-41DC-A56B-740D2D1BA68F}" type="slidenum">
              <a:rPr lang="en-US" smtClean="0"/>
              <a:t>1</a:t>
            </a:fld>
            <a:endParaRPr lang="en-US"/>
          </a:p>
        </p:txBody>
      </p:sp>
    </p:spTree>
    <p:extLst>
      <p:ext uri="{BB962C8B-B14F-4D97-AF65-F5344CB8AC3E}">
        <p14:creationId xmlns:p14="http://schemas.microsoft.com/office/powerpoint/2010/main" val="2584683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3CA9A1-F7CC-41DC-A56B-740D2D1BA68F}" type="slidenum">
              <a:rPr lang="en-US" smtClean="0"/>
              <a:t>8</a:t>
            </a:fld>
            <a:endParaRPr lang="en-US"/>
          </a:p>
        </p:txBody>
      </p:sp>
    </p:spTree>
    <p:extLst>
      <p:ext uri="{BB962C8B-B14F-4D97-AF65-F5344CB8AC3E}">
        <p14:creationId xmlns:p14="http://schemas.microsoft.com/office/powerpoint/2010/main" val="34829629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776ED81-4DF7-4137-833A-7538B96D3DF1}" type="datetimeFigureOut">
              <a:rPr lang="en-US" smtClean="0"/>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9B3E8D-919B-46E9-A0F1-623B24456093}" type="slidenum">
              <a:rPr lang="en-US" smtClean="0"/>
              <a:t>‹#›</a:t>
            </a:fld>
            <a:endParaRPr lang="en-US"/>
          </a:p>
        </p:txBody>
      </p:sp>
    </p:spTree>
    <p:extLst>
      <p:ext uri="{BB962C8B-B14F-4D97-AF65-F5344CB8AC3E}">
        <p14:creationId xmlns:p14="http://schemas.microsoft.com/office/powerpoint/2010/main" val="3939693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76ED81-4DF7-4137-833A-7538B96D3DF1}" type="datetimeFigureOut">
              <a:rPr lang="en-US" smtClean="0"/>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9B3E8D-919B-46E9-A0F1-623B24456093}" type="slidenum">
              <a:rPr lang="en-US" smtClean="0"/>
              <a:t>‹#›</a:t>
            </a:fld>
            <a:endParaRPr lang="en-US"/>
          </a:p>
        </p:txBody>
      </p:sp>
    </p:spTree>
    <p:extLst>
      <p:ext uri="{BB962C8B-B14F-4D97-AF65-F5344CB8AC3E}">
        <p14:creationId xmlns:p14="http://schemas.microsoft.com/office/powerpoint/2010/main" val="2506458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776ED81-4DF7-4137-833A-7538B96D3DF1}" type="datetimeFigureOut">
              <a:rPr lang="en-US" smtClean="0"/>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9B3E8D-919B-46E9-A0F1-623B24456093}" type="slidenum">
              <a:rPr lang="en-US" smtClean="0"/>
              <a:t>‹#›</a:t>
            </a:fld>
            <a:endParaRPr lang="en-US"/>
          </a:p>
        </p:txBody>
      </p:sp>
    </p:spTree>
    <p:extLst>
      <p:ext uri="{BB962C8B-B14F-4D97-AF65-F5344CB8AC3E}">
        <p14:creationId xmlns:p14="http://schemas.microsoft.com/office/powerpoint/2010/main" val="146952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776ED81-4DF7-4137-833A-7538B96D3DF1}" type="datetimeFigureOut">
              <a:rPr lang="en-US" smtClean="0"/>
              <a:t>8/15/2026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9B3E8D-919B-46E9-A0F1-623B24456093}" type="slidenum">
              <a:rPr lang="en-US" smtClean="0"/>
              <a:t>‹#›</a:t>
            </a:fld>
            <a:endParaRPr lang="en-US"/>
          </a:p>
        </p:txBody>
      </p:sp>
    </p:spTree>
    <p:extLst>
      <p:ext uri="{BB962C8B-B14F-4D97-AF65-F5344CB8AC3E}">
        <p14:creationId xmlns:p14="http://schemas.microsoft.com/office/powerpoint/2010/main" val="3967315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776ED81-4DF7-4137-833A-7538B96D3DF1}" type="datetimeFigureOut">
              <a:rPr lang="en-US" smtClean="0"/>
              <a:t>8/15/2026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79B3E8D-919B-46E9-A0F1-623B24456093}" type="slidenum">
              <a:rPr lang="en-US" smtClean="0"/>
              <a:t>‹#›</a:t>
            </a:fld>
            <a:endParaRPr lang="en-US"/>
          </a:p>
        </p:txBody>
      </p:sp>
    </p:spTree>
    <p:extLst>
      <p:ext uri="{BB962C8B-B14F-4D97-AF65-F5344CB8AC3E}">
        <p14:creationId xmlns:p14="http://schemas.microsoft.com/office/powerpoint/2010/main" val="465315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776ED81-4DF7-4137-833A-7538B96D3DF1}" type="datetimeFigureOut">
              <a:rPr lang="en-US" smtClean="0"/>
              <a:t>8/15/2026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79B3E8D-919B-46E9-A0F1-623B24456093}" type="slidenum">
              <a:rPr lang="en-US" smtClean="0"/>
              <a:t>‹#›</a:t>
            </a:fld>
            <a:endParaRPr lang="en-US"/>
          </a:p>
        </p:txBody>
      </p:sp>
    </p:spTree>
    <p:extLst>
      <p:ext uri="{BB962C8B-B14F-4D97-AF65-F5344CB8AC3E}">
        <p14:creationId xmlns:p14="http://schemas.microsoft.com/office/powerpoint/2010/main" val="2904105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76ED81-4DF7-4137-833A-7538B96D3DF1}" type="datetimeFigureOut">
              <a:rPr lang="en-US" smtClean="0"/>
              <a:t>8/15/2026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79B3E8D-919B-46E9-A0F1-623B24456093}" type="slidenum">
              <a:rPr lang="en-US" smtClean="0"/>
              <a:t>‹#›</a:t>
            </a:fld>
            <a:endParaRPr lang="en-US"/>
          </a:p>
        </p:txBody>
      </p:sp>
    </p:spTree>
    <p:extLst>
      <p:ext uri="{BB962C8B-B14F-4D97-AF65-F5344CB8AC3E}">
        <p14:creationId xmlns:p14="http://schemas.microsoft.com/office/powerpoint/2010/main" val="3686239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776ED81-4DF7-4137-833A-7538B96D3DF1}" type="datetimeFigureOut">
              <a:rPr lang="en-US" smtClean="0"/>
              <a:t>8/15/2026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9B3E8D-919B-46E9-A0F1-623B24456093}" type="slidenum">
              <a:rPr lang="en-US" smtClean="0"/>
              <a:t>‹#›</a:t>
            </a:fld>
            <a:endParaRPr lang="en-US"/>
          </a:p>
        </p:txBody>
      </p:sp>
    </p:spTree>
    <p:extLst>
      <p:ext uri="{BB962C8B-B14F-4D97-AF65-F5344CB8AC3E}">
        <p14:creationId xmlns:p14="http://schemas.microsoft.com/office/powerpoint/2010/main" val="3958917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776ED81-4DF7-4137-833A-7538B96D3DF1}" type="datetimeFigureOut">
              <a:rPr lang="en-US" smtClean="0"/>
              <a:t>8/15/2026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9B3E8D-919B-46E9-A0F1-623B24456093}" type="slidenum">
              <a:rPr lang="en-US" smtClean="0"/>
              <a:t>‹#›</a:t>
            </a:fld>
            <a:endParaRPr lang="en-US"/>
          </a:p>
        </p:txBody>
      </p:sp>
    </p:spTree>
    <p:extLst>
      <p:ext uri="{BB962C8B-B14F-4D97-AF65-F5344CB8AC3E}">
        <p14:creationId xmlns:p14="http://schemas.microsoft.com/office/powerpoint/2010/main" val="4168802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76ED81-4DF7-4137-833A-7538B96D3DF1}" type="datetimeFigureOut">
              <a:rPr lang="en-US" smtClean="0"/>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9B3E8D-919B-46E9-A0F1-623B24456093}" type="slidenum">
              <a:rPr lang="en-US" smtClean="0"/>
              <a:t>‹#›</a:t>
            </a:fld>
            <a:endParaRPr lang="en-US"/>
          </a:p>
        </p:txBody>
      </p:sp>
    </p:spTree>
    <p:extLst>
      <p:ext uri="{BB962C8B-B14F-4D97-AF65-F5344CB8AC3E}">
        <p14:creationId xmlns:p14="http://schemas.microsoft.com/office/powerpoint/2010/main" val="2400925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76ED81-4DF7-4137-833A-7538B96D3DF1}" type="datetimeFigureOut">
              <a:rPr lang="en-US" smtClean="0"/>
              <a:t>8/15/2026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9B3E8D-919B-46E9-A0F1-623B24456093}" type="slidenum">
              <a:rPr lang="en-US" smtClean="0"/>
              <a:t>‹#›</a:t>
            </a:fld>
            <a:endParaRPr lang="en-US"/>
          </a:p>
        </p:txBody>
      </p:sp>
    </p:spTree>
    <p:extLst>
      <p:ext uri="{BB962C8B-B14F-4D97-AF65-F5344CB8AC3E}">
        <p14:creationId xmlns:p14="http://schemas.microsoft.com/office/powerpoint/2010/main" val="481281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7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76ED81-4DF7-4137-833A-7538B96D3DF1}" type="datetimeFigureOut">
              <a:rPr lang="en-US" smtClean="0"/>
              <a:t>8/15/2026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9B3E8D-919B-46E9-A0F1-623B24456093}" type="slidenum">
              <a:rPr lang="en-US" smtClean="0"/>
              <a:t>‹#›</a:t>
            </a:fld>
            <a:endParaRPr lang="en-US"/>
          </a:p>
        </p:txBody>
      </p:sp>
    </p:spTree>
    <p:extLst>
      <p:ext uri="{BB962C8B-B14F-4D97-AF65-F5344CB8AC3E}">
        <p14:creationId xmlns:p14="http://schemas.microsoft.com/office/powerpoint/2010/main" val="2054175039"/>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doi.org/10.2210/pdb6VJJ/pdb" TargetMode="External"/><Relationship Id="rId2" Type="http://schemas.openxmlformats.org/officeDocument/2006/relationships/hyperlink" Target="https://doi.org/10.2210/pdb4OBE/pdb"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891F9A7-08E2-458F-B2E0-601FE4562D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331700" cy="6858000"/>
          </a:xfrm>
          <a:prstGeom prst="rect">
            <a:avLst/>
          </a:prstGeom>
        </p:spPr>
      </p:pic>
      <p:sp>
        <p:nvSpPr>
          <p:cNvPr id="6" name="Rectangle 5">
            <a:extLst>
              <a:ext uri="{FF2B5EF4-FFF2-40B4-BE49-F238E27FC236}">
                <a16:creationId xmlns:a16="http://schemas.microsoft.com/office/drawing/2014/main" id="{007E7390-4271-4E59-8C53-7AD1DBADF1AE}"/>
              </a:ext>
            </a:extLst>
          </p:cNvPr>
          <p:cNvSpPr/>
          <p:nvPr/>
        </p:nvSpPr>
        <p:spPr>
          <a:xfrm>
            <a:off x="2614362" y="1883421"/>
            <a:ext cx="6721305" cy="1815882"/>
          </a:xfrm>
          <a:prstGeom prst="rect">
            <a:avLst/>
          </a:prstGeom>
        </p:spPr>
        <p:txBody>
          <a:bodyPr wrap="square">
            <a:spAutoFit/>
          </a:bodyPr>
          <a:lstStyle/>
          <a:p>
            <a:pPr algn="ctr"/>
            <a:r>
              <a:rPr lang="en-US" sz="2800" b="1" dirty="0">
                <a:solidFill>
                  <a:srgbClr val="602C08"/>
                </a:solidFill>
                <a:latin typeface="Times New Roman" panose="02020603050405020304" pitchFamily="18" charset="0"/>
                <a:cs typeface="Times New Roman" panose="02020603050405020304" pitchFamily="18" charset="0"/>
              </a:rPr>
              <a:t>Mutant-Specific Structure Prediction, Molecular Docking, and ADMET Profiling of Candidate Inhibitors Against Oncogenic KRAS G12D</a:t>
            </a:r>
          </a:p>
        </p:txBody>
      </p:sp>
      <p:sp>
        <p:nvSpPr>
          <p:cNvPr id="7" name="Rectangle 6">
            <a:extLst>
              <a:ext uri="{FF2B5EF4-FFF2-40B4-BE49-F238E27FC236}">
                <a16:creationId xmlns:a16="http://schemas.microsoft.com/office/drawing/2014/main" id="{65FC4829-3A34-49E2-A6CB-1F391771FFEF}"/>
              </a:ext>
            </a:extLst>
          </p:cNvPr>
          <p:cNvSpPr/>
          <p:nvPr/>
        </p:nvSpPr>
        <p:spPr>
          <a:xfrm>
            <a:off x="3603458" y="3875489"/>
            <a:ext cx="4985083" cy="646331"/>
          </a:xfrm>
          <a:prstGeom prst="rect">
            <a:avLst/>
          </a:prstGeom>
        </p:spPr>
        <p:txBody>
          <a:bodyPr wrap="none">
            <a:spAutoFit/>
          </a:bodyPr>
          <a:lstStyle/>
          <a:p>
            <a:pPr algn="ctr"/>
            <a:r>
              <a:rPr lang="en-US" b="1" dirty="0">
                <a:solidFill>
                  <a:srgbClr val="602C08"/>
                </a:solidFill>
                <a:latin typeface="Times New Roman" panose="02020603050405020304" pitchFamily="18" charset="0"/>
                <a:cs typeface="Times New Roman" panose="02020603050405020304" pitchFamily="18" charset="0"/>
              </a:rPr>
              <a:t>Presented by: Mah Rukh Jamil</a:t>
            </a:r>
            <a:br>
              <a:rPr lang="en-US" b="1" dirty="0">
                <a:solidFill>
                  <a:srgbClr val="602C08"/>
                </a:solidFill>
                <a:latin typeface="Times New Roman" panose="02020603050405020304" pitchFamily="18" charset="0"/>
                <a:cs typeface="Times New Roman" panose="02020603050405020304" pitchFamily="18" charset="0"/>
              </a:rPr>
            </a:br>
            <a:r>
              <a:rPr lang="en-US" b="1" dirty="0">
                <a:solidFill>
                  <a:srgbClr val="602C08"/>
                </a:solidFill>
                <a:latin typeface="Times New Roman" panose="02020603050405020304" pitchFamily="18" charset="0"/>
                <a:cs typeface="Times New Roman" panose="02020603050405020304" pitchFamily="18" charset="0"/>
              </a:rPr>
              <a:t>Department of Bioinformatics GCUF Faisalabad</a:t>
            </a:r>
          </a:p>
        </p:txBody>
      </p:sp>
      <p:pic>
        <p:nvPicPr>
          <p:cNvPr id="9" name="Picture 8">
            <a:extLst>
              <a:ext uri="{FF2B5EF4-FFF2-40B4-BE49-F238E27FC236}">
                <a16:creationId xmlns:a16="http://schemas.microsoft.com/office/drawing/2014/main" id="{CA833F74-5946-45D5-9395-FA1A1C6700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5899" y="228600"/>
            <a:ext cx="955357" cy="1079500"/>
          </a:xfrm>
          <a:prstGeom prst="rect">
            <a:avLst/>
          </a:prstGeom>
        </p:spPr>
      </p:pic>
      <p:pic>
        <p:nvPicPr>
          <p:cNvPr id="10" name="Picture 9">
            <a:extLst>
              <a:ext uri="{FF2B5EF4-FFF2-40B4-BE49-F238E27FC236}">
                <a16:creationId xmlns:a16="http://schemas.microsoft.com/office/drawing/2014/main" id="{DF181382-2F74-3CEF-A3B4-86F1FEC9B27E}"/>
              </a:ext>
            </a:extLst>
          </p:cNvPr>
          <p:cNvPicPr>
            <a:picLocks noChangeAspect="1"/>
          </p:cNvPicPr>
          <p:nvPr/>
        </p:nvPicPr>
        <p:blipFill>
          <a:blip r:embed="rId5" cstate="print"/>
          <a:stretch>
            <a:fillRect/>
          </a:stretch>
        </p:blipFill>
        <p:spPr>
          <a:xfrm>
            <a:off x="1171256" y="228600"/>
            <a:ext cx="1321289" cy="1079500"/>
          </a:xfrm>
          <a:prstGeom prst="rect">
            <a:avLst/>
          </a:prstGeom>
        </p:spPr>
      </p:pic>
    </p:spTree>
    <p:extLst>
      <p:ext uri="{BB962C8B-B14F-4D97-AF65-F5344CB8AC3E}">
        <p14:creationId xmlns:p14="http://schemas.microsoft.com/office/powerpoint/2010/main" val="1559719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alpha val="75000"/>
          </a:schemeClr>
        </a:solidFill>
        <a:effectLst/>
      </p:bgPr>
    </p:bg>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6A24F12B-BDDD-4B6D-B00F-212A01F34063}"/>
              </a:ext>
            </a:extLst>
          </p:cNvPr>
          <p:cNvSpPr/>
          <p:nvPr/>
        </p:nvSpPr>
        <p:spPr>
          <a:xfrm>
            <a:off x="405326" y="719564"/>
            <a:ext cx="5102250" cy="2297956"/>
          </a:xfrm>
          <a:prstGeom prst="roundRect">
            <a:avLst>
              <a:gd name="adj" fmla="val 5654"/>
            </a:avLst>
          </a:prstGeom>
          <a:solidFill>
            <a:schemeClr val="bg1">
              <a:lumMod val="85000"/>
            </a:schemeClr>
          </a:solidFill>
          <a:ln w="4763">
            <a:solidFill>
              <a:srgbClr val="D1C8C6"/>
            </a:solidFill>
            <a:prstDash val="solid"/>
          </a:ln>
        </p:spPr>
        <p:style>
          <a:lnRef idx="0">
            <a:scrgbClr r="0" g="0" b="0"/>
          </a:lnRef>
          <a:fillRef idx="1001">
            <a:schemeClr val="lt2"/>
          </a:fillRef>
          <a:effectRef idx="0">
            <a:scrgbClr r="0" g="0" b="0"/>
          </a:effectRef>
          <a:fontRef idx="major"/>
        </p:style>
      </p:sp>
      <p:sp>
        <p:nvSpPr>
          <p:cNvPr id="3" name="Rectangle 2">
            <a:extLst>
              <a:ext uri="{FF2B5EF4-FFF2-40B4-BE49-F238E27FC236}">
                <a16:creationId xmlns:a16="http://schemas.microsoft.com/office/drawing/2014/main" id="{00F41F26-F7D9-44EC-B7BD-9E3DFB2DB073}"/>
              </a:ext>
            </a:extLst>
          </p:cNvPr>
          <p:cNvSpPr/>
          <p:nvPr/>
        </p:nvSpPr>
        <p:spPr>
          <a:xfrm>
            <a:off x="538480" y="785038"/>
            <a:ext cx="1999237" cy="1010533"/>
          </a:xfrm>
          <a:prstGeom prst="rect">
            <a:avLst/>
          </a:prstGeom>
        </p:spPr>
        <p:txBody>
          <a:bodyPr wrap="square">
            <a:spAutoFit/>
          </a:bodyPr>
          <a:lstStyle/>
          <a:p>
            <a:pPr>
              <a:lnSpc>
                <a:spcPct val="150000"/>
              </a:lnSpc>
            </a:pPr>
            <a:r>
              <a:rPr lang="en-US" sz="2400" b="1" dirty="0">
                <a:solidFill>
                  <a:srgbClr val="602C08"/>
                </a:solidFill>
                <a:latin typeface="Times New Roman" panose="02020603050405020304" pitchFamily="18" charset="0"/>
                <a:cs typeface="Times New Roman" panose="02020603050405020304" pitchFamily="18" charset="0"/>
              </a:rPr>
              <a:t>Background</a:t>
            </a:r>
            <a:br>
              <a:rPr lang="en-US" b="1" dirty="0">
                <a:latin typeface="Arial" panose="020B0604020202020204" pitchFamily="34" charset="0"/>
                <a:cs typeface="Arial" panose="020B0604020202020204" pitchFamily="34" charset="0"/>
              </a:rPr>
            </a:br>
            <a:endParaRPr lang="en-US" b="1" dirty="0">
              <a:latin typeface="Arial" panose="020B0604020202020204" pitchFamily="34" charset="0"/>
              <a:cs typeface="Arial" panose="020B0604020202020204" pitchFamily="34" charset="0"/>
            </a:endParaRPr>
          </a:p>
        </p:txBody>
      </p:sp>
      <p:sp>
        <p:nvSpPr>
          <p:cNvPr id="4" name="Shape 4">
            <a:extLst>
              <a:ext uri="{FF2B5EF4-FFF2-40B4-BE49-F238E27FC236}">
                <a16:creationId xmlns:a16="http://schemas.microsoft.com/office/drawing/2014/main" id="{F25FFE80-542D-48EE-B222-BC1664FC8241}"/>
              </a:ext>
            </a:extLst>
          </p:cNvPr>
          <p:cNvSpPr/>
          <p:nvPr/>
        </p:nvSpPr>
        <p:spPr>
          <a:xfrm>
            <a:off x="6502122" y="719564"/>
            <a:ext cx="4805958" cy="2297956"/>
          </a:xfrm>
          <a:prstGeom prst="roundRect">
            <a:avLst>
              <a:gd name="adj" fmla="val 5654"/>
            </a:avLst>
          </a:prstGeom>
          <a:solidFill>
            <a:schemeClr val="bg1">
              <a:lumMod val="85000"/>
            </a:schemeClr>
          </a:solidFill>
          <a:ln w="4763">
            <a:solidFill>
              <a:srgbClr val="D1C8C6"/>
            </a:solidFill>
            <a:prstDash val="solid"/>
          </a:ln>
        </p:spPr>
        <p:style>
          <a:lnRef idx="0">
            <a:scrgbClr r="0" g="0" b="0"/>
          </a:lnRef>
          <a:fillRef idx="1002">
            <a:schemeClr val="lt2"/>
          </a:fillRef>
          <a:effectRef idx="0">
            <a:scrgbClr r="0" g="0" b="0"/>
          </a:effectRef>
          <a:fontRef idx="major"/>
        </p:style>
      </p:sp>
      <p:sp>
        <p:nvSpPr>
          <p:cNvPr id="5" name="Rectangle 4">
            <a:extLst>
              <a:ext uri="{FF2B5EF4-FFF2-40B4-BE49-F238E27FC236}">
                <a16:creationId xmlns:a16="http://schemas.microsoft.com/office/drawing/2014/main" id="{BA9FC888-5085-468C-9A9C-D13CDAD33D2F}"/>
              </a:ext>
            </a:extLst>
          </p:cNvPr>
          <p:cNvSpPr/>
          <p:nvPr/>
        </p:nvSpPr>
        <p:spPr>
          <a:xfrm flipH="1">
            <a:off x="6715756" y="965199"/>
            <a:ext cx="1513844" cy="452560"/>
          </a:xfrm>
          <a:prstGeom prst="rect">
            <a:avLst/>
          </a:prstGeom>
        </p:spPr>
        <p:txBody>
          <a:bodyPr wrap="square">
            <a:spAutoFit/>
          </a:bodyPr>
          <a:lstStyle/>
          <a:p>
            <a:pPr>
              <a:lnSpc>
                <a:spcPct val="104000"/>
              </a:lnSpc>
            </a:pPr>
            <a:r>
              <a:rPr lang="en-US" sz="2400" b="1" dirty="0">
                <a:solidFill>
                  <a:srgbClr val="602C08"/>
                </a:solidFill>
                <a:latin typeface="Times New Roman" panose="02020603050405020304" pitchFamily="18" charset="0"/>
                <a:ea typeface="Crimson Pro Bold" pitchFamily="34" charset="-122"/>
                <a:cs typeface="Times New Roman" panose="02020603050405020304" pitchFamily="18" charset="0"/>
              </a:rPr>
              <a:t>Objective</a:t>
            </a:r>
            <a:endParaRPr lang="en-US" sz="2400" dirty="0">
              <a:solidFill>
                <a:srgbClr val="602C08"/>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7B1D65F8-5D62-4610-BC24-D4BF14AB4887}"/>
              </a:ext>
            </a:extLst>
          </p:cNvPr>
          <p:cNvSpPr/>
          <p:nvPr/>
        </p:nvSpPr>
        <p:spPr>
          <a:xfrm>
            <a:off x="6715756" y="1363321"/>
            <a:ext cx="4155443" cy="1569660"/>
          </a:xfrm>
          <a:prstGeom prst="rect">
            <a:avLst/>
          </a:prstGeom>
        </p:spPr>
        <p:txBody>
          <a:bodyPr wrap="square">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rPr>
              <a:t>Construct and validate a KRAS G12D mutant model. </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rPr>
              <a:t>Identify potential Switch-II pocket inhibitors through molecular docking. </a:t>
            </a:r>
          </a:p>
          <a:p>
            <a:pPr marL="285750" lvl="0" indent="-285750" defTabSz="914400" eaLnBrk="0" fontAlgn="base" hangingPunct="0">
              <a:spcBef>
                <a:spcPct val="0"/>
              </a:spcBef>
              <a:spcAft>
                <a:spcPct val="0"/>
              </a:spcAft>
              <a:buFont typeface="Arial" panose="020B0604020202020204" pitchFamily="34" charset="0"/>
              <a:buChar char="•"/>
            </a:pPr>
            <a:r>
              <a:rPr lang="en-US" altLang="en-US" sz="1600" dirty="0">
                <a:latin typeface="Times New Roman" panose="02020603050405020304" pitchFamily="18" charset="0"/>
                <a:cs typeface="Times New Roman" panose="02020603050405020304" pitchFamily="18" charset="0"/>
              </a:rPr>
              <a:t>Evaluate shortlisted ligands using ADMET prediction</a:t>
            </a:r>
            <a:endParaRPr lang="en-US" sz="1600"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680D5474-68D3-468A-9100-2ADC90515A78}"/>
              </a:ext>
            </a:extLst>
          </p:cNvPr>
          <p:cNvSpPr/>
          <p:nvPr/>
        </p:nvSpPr>
        <p:spPr>
          <a:xfrm>
            <a:off x="538481" y="1259841"/>
            <a:ext cx="4969095" cy="2397066"/>
          </a:xfrm>
          <a:prstGeom prst="rect">
            <a:avLst/>
          </a:prstGeom>
        </p:spPr>
        <p:txBody>
          <a:bodyPr wrap="square">
            <a:spAutoFit/>
          </a:bodyPr>
          <a:lstStyle/>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KRAS G12D drives pancreatic adenocarcinoma. </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KRAS cycles between GDP and GTP states. </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Switch-II pocket is a therapeutically relevant allosteric binding site</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graphicFrame>
        <p:nvGraphicFramePr>
          <p:cNvPr id="13" name="Diagram 12">
            <a:extLst>
              <a:ext uri="{FF2B5EF4-FFF2-40B4-BE49-F238E27FC236}">
                <a16:creationId xmlns:a16="http://schemas.microsoft.com/office/drawing/2014/main" id="{9780B821-C0B5-4F1B-A434-E14C8D1FB7A8}"/>
              </a:ext>
            </a:extLst>
          </p:cNvPr>
          <p:cNvGraphicFramePr/>
          <p:nvPr>
            <p:extLst>
              <p:ext uri="{D42A27DB-BD31-4B8C-83A1-F6EECF244321}">
                <p14:modId xmlns:p14="http://schemas.microsoft.com/office/powerpoint/2010/main" val="2231306124"/>
              </p:ext>
            </p:extLst>
          </p:nvPr>
        </p:nvGraphicFramePr>
        <p:xfrm>
          <a:off x="2695367" y="3720677"/>
          <a:ext cx="7872119" cy="31154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5" name="Rectangle 14">
            <a:extLst>
              <a:ext uri="{FF2B5EF4-FFF2-40B4-BE49-F238E27FC236}">
                <a16:creationId xmlns:a16="http://schemas.microsoft.com/office/drawing/2014/main" id="{8DCA1018-2F94-4786-BDF5-5F24B0A05668}"/>
              </a:ext>
            </a:extLst>
          </p:cNvPr>
          <p:cNvSpPr/>
          <p:nvPr/>
        </p:nvSpPr>
        <p:spPr>
          <a:xfrm>
            <a:off x="731520" y="3324803"/>
            <a:ext cx="2042160" cy="452560"/>
          </a:xfrm>
          <a:prstGeom prst="rect">
            <a:avLst/>
          </a:prstGeom>
        </p:spPr>
        <p:txBody>
          <a:bodyPr wrap="square">
            <a:spAutoFit/>
          </a:bodyPr>
          <a:lstStyle/>
          <a:p>
            <a:pPr>
              <a:lnSpc>
                <a:spcPct val="104000"/>
              </a:lnSpc>
            </a:pPr>
            <a:r>
              <a:rPr lang="en-US" sz="2400" b="1" dirty="0">
                <a:solidFill>
                  <a:srgbClr val="602C08"/>
                </a:solidFill>
                <a:latin typeface="Times New Roman" panose="02020603050405020304" pitchFamily="18" charset="0"/>
                <a:ea typeface="Crimson Pro Bold" pitchFamily="34" charset="-122"/>
                <a:cs typeface="Times New Roman" panose="02020603050405020304" pitchFamily="18" charset="0"/>
              </a:rPr>
              <a:t>Methodology</a:t>
            </a:r>
            <a:endParaRPr lang="en-US" sz="2400" dirty="0">
              <a:solidFill>
                <a:srgbClr val="602C08"/>
              </a:solidFill>
              <a:latin typeface="Times New Roman" panose="02020603050405020304" pitchFamily="18" charset="0"/>
              <a:cs typeface="Times New Roman" panose="02020603050405020304" pitchFamily="18" charset="0"/>
            </a:endParaRPr>
          </a:p>
        </p:txBody>
      </p:sp>
      <p:sp>
        <p:nvSpPr>
          <p:cNvPr id="17" name="Oval 16">
            <a:extLst>
              <a:ext uri="{FF2B5EF4-FFF2-40B4-BE49-F238E27FC236}">
                <a16:creationId xmlns:a16="http://schemas.microsoft.com/office/drawing/2014/main" id="{91FE6317-07A1-48FD-9FA9-344B3DAB31C9}"/>
              </a:ext>
            </a:extLst>
          </p:cNvPr>
          <p:cNvSpPr/>
          <p:nvPr/>
        </p:nvSpPr>
        <p:spPr>
          <a:xfrm>
            <a:off x="12120880" y="373164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1230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0C64047-7CB1-4273-978A-EF9CA72D3ADC}"/>
              </a:ext>
            </a:extLst>
          </p:cNvPr>
          <p:cNvSpPr/>
          <p:nvPr/>
        </p:nvSpPr>
        <p:spPr>
          <a:xfrm>
            <a:off x="911149" y="236568"/>
            <a:ext cx="3434080" cy="830997"/>
          </a:xfrm>
          <a:prstGeom prst="rect">
            <a:avLst/>
          </a:prstGeom>
        </p:spPr>
        <p:txBody>
          <a:bodyPr wrap="square">
            <a:spAutoFit/>
          </a:bodyPr>
          <a:lstStyle/>
          <a:p>
            <a:r>
              <a:rPr lang="en-US" sz="2400" b="1" dirty="0">
                <a:solidFill>
                  <a:srgbClr val="602C08"/>
                </a:solidFill>
                <a:latin typeface="Times New Roman" panose="02020603050405020304" pitchFamily="18" charset="0"/>
                <a:cs typeface="Times New Roman" panose="02020603050405020304" pitchFamily="18" charset="0"/>
              </a:rPr>
              <a:t>Template Selection: </a:t>
            </a:r>
            <a:br>
              <a:rPr lang="en-US" sz="2400" b="1" dirty="0">
                <a:solidFill>
                  <a:srgbClr val="602C08"/>
                </a:solidFill>
                <a:latin typeface="Times New Roman" panose="02020603050405020304" pitchFamily="18" charset="0"/>
                <a:cs typeface="Times New Roman" panose="02020603050405020304" pitchFamily="18" charset="0"/>
              </a:rPr>
            </a:br>
            <a:endParaRPr lang="en-US" sz="2400" b="1" dirty="0">
              <a:solidFill>
                <a:srgbClr val="602C08"/>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9EA6C7CD-F185-4A68-960A-DCE8135433B2}"/>
              </a:ext>
            </a:extLst>
          </p:cNvPr>
          <p:cNvSpPr/>
          <p:nvPr/>
        </p:nvSpPr>
        <p:spPr>
          <a:xfrm>
            <a:off x="976707" y="698054"/>
            <a:ext cx="1826078" cy="584775"/>
          </a:xfrm>
          <a:prstGeom prst="rect">
            <a:avLst/>
          </a:prstGeom>
        </p:spPr>
        <p:txBody>
          <a:bodyPr wrap="square">
            <a:spAutoFit/>
          </a:bodyPr>
          <a:lstStyle/>
          <a:p>
            <a:r>
              <a:rPr lang="en-US" sz="1600" b="1" dirty="0">
                <a:latin typeface="Times New Roman" panose="02020603050405020304" pitchFamily="18" charset="0"/>
                <a:cs typeface="Times New Roman" panose="02020603050405020304" pitchFamily="18" charset="0"/>
              </a:rPr>
              <a:t>Why 4OBE?</a:t>
            </a:r>
            <a:br>
              <a:rPr lang="en-US" sz="1600" b="1"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1E401C9B-04EB-42DD-AACD-E407443B6295}"/>
              </a:ext>
            </a:extLst>
          </p:cNvPr>
          <p:cNvGraphicFramePr>
            <a:graphicFrameLocks noGrp="1"/>
          </p:cNvGraphicFramePr>
          <p:nvPr>
            <p:extLst>
              <p:ext uri="{D42A27DB-BD31-4B8C-83A1-F6EECF244321}">
                <p14:modId xmlns:p14="http://schemas.microsoft.com/office/powerpoint/2010/main" val="2936774760"/>
              </p:ext>
            </p:extLst>
          </p:nvPr>
        </p:nvGraphicFramePr>
        <p:xfrm>
          <a:off x="1091420" y="1100400"/>
          <a:ext cx="6647290" cy="1418404"/>
        </p:xfrm>
        <a:graphic>
          <a:graphicData uri="http://schemas.openxmlformats.org/drawingml/2006/table">
            <a:tbl>
              <a:tblPr firstRow="1" firstCol="1" bandRow="1">
                <a:tableStyleId>{F2DE63D5-997A-4646-A377-4702673A728D}</a:tableStyleId>
              </a:tblPr>
              <a:tblGrid>
                <a:gridCol w="998836">
                  <a:extLst>
                    <a:ext uri="{9D8B030D-6E8A-4147-A177-3AD203B41FA5}">
                      <a16:colId xmlns:a16="http://schemas.microsoft.com/office/drawing/2014/main" val="4138875691"/>
                    </a:ext>
                  </a:extLst>
                </a:gridCol>
                <a:gridCol w="1325600">
                  <a:extLst>
                    <a:ext uri="{9D8B030D-6E8A-4147-A177-3AD203B41FA5}">
                      <a16:colId xmlns:a16="http://schemas.microsoft.com/office/drawing/2014/main" val="2933567173"/>
                    </a:ext>
                  </a:extLst>
                </a:gridCol>
                <a:gridCol w="992513">
                  <a:extLst>
                    <a:ext uri="{9D8B030D-6E8A-4147-A177-3AD203B41FA5}">
                      <a16:colId xmlns:a16="http://schemas.microsoft.com/office/drawing/2014/main" val="1774601105"/>
                    </a:ext>
                  </a:extLst>
                </a:gridCol>
                <a:gridCol w="3330341">
                  <a:extLst>
                    <a:ext uri="{9D8B030D-6E8A-4147-A177-3AD203B41FA5}">
                      <a16:colId xmlns:a16="http://schemas.microsoft.com/office/drawing/2014/main" val="2379303190"/>
                    </a:ext>
                  </a:extLst>
                </a:gridCol>
              </a:tblGrid>
              <a:tr h="333278">
                <a:tc>
                  <a:txBody>
                    <a:bodyPr/>
                    <a:lstStyle/>
                    <a:p>
                      <a:pPr marL="0" marR="0" algn="ctr">
                        <a:lnSpc>
                          <a:spcPct val="107000"/>
                        </a:lnSpc>
                        <a:spcBef>
                          <a:spcPts val="0"/>
                        </a:spcBef>
                        <a:spcAft>
                          <a:spcPts val="0"/>
                        </a:spcAft>
                      </a:pPr>
                      <a:r>
                        <a:rPr lang="en-US" sz="1200" dirty="0">
                          <a:effectLst/>
                        </a:rPr>
                        <a:t>PDB ID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602C08"/>
                    </a:solidFill>
                  </a:tcPr>
                </a:tc>
                <a:tc>
                  <a:txBody>
                    <a:bodyPr/>
                    <a:lstStyle/>
                    <a:p>
                      <a:pPr marL="0" marR="0" algn="ctr">
                        <a:lnSpc>
                          <a:spcPct val="107000"/>
                        </a:lnSpc>
                        <a:spcBef>
                          <a:spcPts val="0"/>
                        </a:spcBef>
                        <a:spcAft>
                          <a:spcPts val="0"/>
                        </a:spcAft>
                      </a:pPr>
                      <a:r>
                        <a:rPr lang="en-US" sz="1200" dirty="0">
                          <a:effectLst/>
                        </a:rPr>
                        <a:t>Nucleotide State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602C08"/>
                    </a:solidFill>
                  </a:tcPr>
                </a:tc>
                <a:tc>
                  <a:txBody>
                    <a:bodyPr/>
                    <a:lstStyle/>
                    <a:p>
                      <a:pPr marL="0" marR="0" algn="ctr">
                        <a:lnSpc>
                          <a:spcPct val="107000"/>
                        </a:lnSpc>
                        <a:spcBef>
                          <a:spcPts val="0"/>
                        </a:spcBef>
                        <a:spcAft>
                          <a:spcPts val="0"/>
                        </a:spcAft>
                      </a:pPr>
                      <a:r>
                        <a:rPr lang="en-US" sz="1200" dirty="0">
                          <a:effectLst/>
                        </a:rPr>
                        <a:t>Resolution</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602C08"/>
                    </a:solidFill>
                  </a:tcPr>
                </a:tc>
                <a:tc>
                  <a:txBody>
                    <a:bodyPr/>
                    <a:lstStyle/>
                    <a:p>
                      <a:pPr marL="0" marR="0" algn="ctr">
                        <a:lnSpc>
                          <a:spcPct val="107000"/>
                        </a:lnSpc>
                        <a:spcBef>
                          <a:spcPts val="0"/>
                        </a:spcBef>
                        <a:spcAft>
                          <a:spcPts val="0"/>
                        </a:spcAft>
                      </a:pPr>
                      <a:r>
                        <a:rPr lang="en-US" sz="1200" dirty="0">
                          <a:effectLst/>
                        </a:rPr>
                        <a:t>Reason Considered / Rejected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rgbClr val="602C08"/>
                    </a:solidFill>
                  </a:tcPr>
                </a:tc>
                <a:extLst>
                  <a:ext uri="{0D108BD9-81ED-4DB2-BD59-A6C34878D82A}">
                    <a16:rowId xmlns:a16="http://schemas.microsoft.com/office/drawing/2014/main" val="2828314213"/>
                  </a:ext>
                </a:extLst>
              </a:tr>
              <a:tr h="551465">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4OBE</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GDP-bound</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1.24 Å</a:t>
                      </a:r>
                    </a:p>
                  </a:txBody>
                  <a:tcPr marL="68580" marR="68580"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Selected as GDP-state template for G12D </a:t>
                      </a:r>
                      <a:r>
                        <a:rPr lang="en-US" sz="1200" dirty="0" err="1">
                          <a:effectLst/>
                          <a:latin typeface="Times New Roman" panose="02020603050405020304" pitchFamily="18" charset="0"/>
                          <a:cs typeface="Times New Roman" panose="02020603050405020304" pitchFamily="18" charset="0"/>
                        </a:rPr>
                        <a:t>mutagenesis</a:t>
                      </a:r>
                      <a:r>
                        <a:rPr lang="en-US" sz="1200" dirty="0" err="1">
                          <a:latin typeface="Times New Roman" panose="02020603050405020304" pitchFamily="18" charset="0"/>
                          <a:cs typeface="Times New Roman" panose="02020603050405020304" pitchFamily="18" charset="0"/>
                        </a:rPr>
                        <a:t>because</a:t>
                      </a:r>
                      <a:r>
                        <a:rPr lang="en-US" sz="1200" dirty="0">
                          <a:latin typeface="Times New Roman" panose="02020603050405020304" pitchFamily="18" charset="0"/>
                          <a:cs typeface="Times New Roman" panose="02020603050405020304" pitchFamily="18" charset="0"/>
                        </a:rPr>
                        <a:t> the Switch-II pocket is accessible. </a:t>
                      </a:r>
                      <a:r>
                        <a:rPr lang="en-US" sz="1200" dirty="0">
                          <a:effectLst/>
                          <a:latin typeface="Times New Roman" panose="02020603050405020304" pitchFamily="18" charset="0"/>
                          <a:cs typeface="Times New Roman" panose="02020603050405020304" pitchFamily="18" charset="0"/>
                        </a:rPr>
                        <a:t> </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43634159"/>
                  </a:ext>
                </a:extLst>
              </a:tr>
              <a:tr h="511213">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6VJJ</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GTP-bound (active state)</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1.40 Å</a:t>
                      </a:r>
                    </a:p>
                  </a:txBody>
                  <a:tcPr marL="68580" marR="68580" marT="0" marB="0"/>
                </a:tc>
                <a:tc>
                  <a:txBody>
                    <a:bodyPr/>
                    <a:lstStyle/>
                    <a:p>
                      <a:pPr marL="0" marR="0">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Used as comparison structure to confirm switch-II conformational divergence via structural overlay </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23882106"/>
                  </a:ext>
                </a:extLst>
              </a:tr>
            </a:tbl>
          </a:graphicData>
        </a:graphic>
      </p:graphicFrame>
      <p:pic>
        <p:nvPicPr>
          <p:cNvPr id="10" name="Picture 9">
            <a:extLst>
              <a:ext uri="{FF2B5EF4-FFF2-40B4-BE49-F238E27FC236}">
                <a16:creationId xmlns:a16="http://schemas.microsoft.com/office/drawing/2014/main" id="{2668C206-F0AF-466B-9E2E-F63045CE5BB0}"/>
              </a:ext>
            </a:extLst>
          </p:cNvPr>
          <p:cNvPicPr/>
          <p:nvPr/>
        </p:nvPicPr>
        <p:blipFill rotWithShape="1">
          <a:blip r:embed="rId2" cstate="print">
            <a:extLst>
              <a:ext uri="{28A0092B-C50C-407E-A947-70E740481C1C}">
                <a14:useLocalDpi xmlns:a14="http://schemas.microsoft.com/office/drawing/2010/main" val="0"/>
              </a:ext>
            </a:extLst>
          </a:blip>
          <a:srcRect l="35857" t="14289" r="49494" b="19830"/>
          <a:stretch/>
        </p:blipFill>
        <p:spPr>
          <a:xfrm>
            <a:off x="9098960" y="3031824"/>
            <a:ext cx="2708277" cy="2570179"/>
          </a:xfrm>
          <a:prstGeom prst="rect">
            <a:avLst/>
          </a:prstGeom>
          <a:solidFill>
            <a:schemeClr val="accent2">
              <a:alpha val="50000"/>
            </a:schemeClr>
          </a:solidFill>
          <a:ln>
            <a:noFill/>
          </a:ln>
          <a:effectLst>
            <a:softEdge rad="31750"/>
          </a:effectLst>
        </p:spPr>
        <p:style>
          <a:lnRef idx="0">
            <a:scrgbClr r="0" g="0" b="0"/>
          </a:lnRef>
          <a:fillRef idx="0">
            <a:scrgbClr r="0" g="0" b="0"/>
          </a:fillRef>
          <a:effectRef idx="0">
            <a:scrgbClr r="0" g="0" b="0"/>
          </a:effectRef>
          <a:fontRef idx="minor">
            <a:schemeClr val="lt1"/>
          </a:fontRef>
        </p:style>
      </p:pic>
      <p:pic>
        <p:nvPicPr>
          <p:cNvPr id="11" name="Picture 10">
            <a:extLst>
              <a:ext uri="{FF2B5EF4-FFF2-40B4-BE49-F238E27FC236}">
                <a16:creationId xmlns:a16="http://schemas.microsoft.com/office/drawing/2014/main" id="{5DF163DB-37A2-44F0-B39A-790965B15834}"/>
              </a:ext>
            </a:extLst>
          </p:cNvPr>
          <p:cNvPicPr/>
          <p:nvPr/>
        </p:nvPicPr>
        <p:blipFill rotWithShape="1">
          <a:blip r:embed="rId3" cstate="print">
            <a:extLst>
              <a:ext uri="{28A0092B-C50C-407E-A947-70E740481C1C}">
                <a14:useLocalDpi xmlns:a14="http://schemas.microsoft.com/office/drawing/2010/main" val="0"/>
              </a:ext>
            </a:extLst>
          </a:blip>
          <a:srcRect l="12685" t="49754" r="56672" b="27553"/>
          <a:stretch/>
        </p:blipFill>
        <p:spPr>
          <a:xfrm>
            <a:off x="9020769" y="5651019"/>
            <a:ext cx="2958534" cy="1078030"/>
          </a:xfrm>
          <a:prstGeom prst="rect">
            <a:avLst/>
          </a:prstGeom>
          <a:effectLst>
            <a:softEdge rad="31750"/>
          </a:effectLst>
        </p:spPr>
      </p:pic>
      <p:sp>
        <p:nvSpPr>
          <p:cNvPr id="12" name="Rectangle 1">
            <a:extLst>
              <a:ext uri="{FF2B5EF4-FFF2-40B4-BE49-F238E27FC236}">
                <a16:creationId xmlns:a16="http://schemas.microsoft.com/office/drawing/2014/main" id="{1035592E-6EFA-44EE-B3AE-17FDC7E49C70}"/>
              </a:ext>
            </a:extLst>
          </p:cNvPr>
          <p:cNvSpPr>
            <a:spLocks noChangeArrowheads="1"/>
          </p:cNvSpPr>
          <p:nvPr/>
        </p:nvSpPr>
        <p:spPr bwMode="auto">
          <a:xfrm>
            <a:off x="976707" y="5726711"/>
            <a:ext cx="576699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18" name="Table 17">
            <a:extLst>
              <a:ext uri="{FF2B5EF4-FFF2-40B4-BE49-F238E27FC236}">
                <a16:creationId xmlns:a16="http://schemas.microsoft.com/office/drawing/2014/main" id="{F7079DA1-8787-46E8-BAB8-FBE17C0610F7}"/>
              </a:ext>
            </a:extLst>
          </p:cNvPr>
          <p:cNvGraphicFramePr>
            <a:graphicFrameLocks noGrp="1"/>
          </p:cNvGraphicFramePr>
          <p:nvPr>
            <p:extLst>
              <p:ext uri="{D42A27DB-BD31-4B8C-83A1-F6EECF244321}">
                <p14:modId xmlns:p14="http://schemas.microsoft.com/office/powerpoint/2010/main" val="1000676829"/>
              </p:ext>
            </p:extLst>
          </p:nvPr>
        </p:nvGraphicFramePr>
        <p:xfrm>
          <a:off x="1571627" y="6136652"/>
          <a:ext cx="208280" cy="539508"/>
        </p:xfrm>
        <a:graphic>
          <a:graphicData uri="http://schemas.openxmlformats.org/drawingml/2006/table">
            <a:tbl>
              <a:tblPr/>
              <a:tblGrid>
                <a:gridCol w="208280">
                  <a:extLst>
                    <a:ext uri="{9D8B030D-6E8A-4147-A177-3AD203B41FA5}">
                      <a16:colId xmlns:a16="http://schemas.microsoft.com/office/drawing/2014/main" val="893849878"/>
                    </a:ext>
                  </a:extLst>
                </a:gridCol>
              </a:tblGrid>
              <a:tr h="539508">
                <a:tc>
                  <a:txBody>
                    <a:bodyPr/>
                    <a:lstStyle/>
                    <a:p>
                      <a:endParaRPr lang="en-US" dirty="0"/>
                    </a:p>
                  </a:txBody>
                  <a:tcPr anchor="ctr">
                    <a:lnL>
                      <a:noFill/>
                    </a:lnL>
                    <a:lnR>
                      <a:noFill/>
                    </a:lnR>
                    <a:lnT>
                      <a:noFill/>
                    </a:lnT>
                    <a:lnB>
                      <a:noFill/>
                    </a:lnB>
                  </a:tcPr>
                </a:tc>
                <a:extLst>
                  <a:ext uri="{0D108BD9-81ED-4DB2-BD59-A6C34878D82A}">
                    <a16:rowId xmlns:a16="http://schemas.microsoft.com/office/drawing/2014/main" val="2467058975"/>
                  </a:ext>
                </a:extLst>
              </a:tr>
            </a:tbl>
          </a:graphicData>
        </a:graphic>
      </p:graphicFrame>
      <p:pic>
        <p:nvPicPr>
          <p:cNvPr id="23" name="Picture 22">
            <a:extLst>
              <a:ext uri="{FF2B5EF4-FFF2-40B4-BE49-F238E27FC236}">
                <a16:creationId xmlns:a16="http://schemas.microsoft.com/office/drawing/2014/main" id="{DA37A9E0-5192-4320-A2DF-D7381F271A31}"/>
              </a:ext>
            </a:extLst>
          </p:cNvPr>
          <p:cNvPicPr>
            <a:picLocks noChangeAspect="1"/>
          </p:cNvPicPr>
          <p:nvPr/>
        </p:nvPicPr>
        <p:blipFill>
          <a:blip r:embed="rId4"/>
          <a:stretch>
            <a:fillRect/>
          </a:stretch>
        </p:blipFill>
        <p:spPr>
          <a:xfrm>
            <a:off x="8945943" y="370839"/>
            <a:ext cx="3014312" cy="2100018"/>
          </a:xfrm>
          <a:prstGeom prst="rect">
            <a:avLst/>
          </a:prstGeom>
          <a:effectLst>
            <a:softEdge rad="31750"/>
          </a:effectLst>
        </p:spPr>
      </p:pic>
      <p:sp>
        <p:nvSpPr>
          <p:cNvPr id="25" name="Rectangle 24">
            <a:extLst>
              <a:ext uri="{FF2B5EF4-FFF2-40B4-BE49-F238E27FC236}">
                <a16:creationId xmlns:a16="http://schemas.microsoft.com/office/drawing/2014/main" id="{B0AA4822-7B68-4532-9A3E-74CB3E3E8F30}"/>
              </a:ext>
            </a:extLst>
          </p:cNvPr>
          <p:cNvSpPr/>
          <p:nvPr/>
        </p:nvSpPr>
        <p:spPr>
          <a:xfrm>
            <a:off x="1091421" y="4562429"/>
            <a:ext cx="7081441" cy="461665"/>
          </a:xfrm>
          <a:prstGeom prst="rect">
            <a:avLst/>
          </a:prstGeom>
        </p:spPr>
        <p:txBody>
          <a:bodyPr wrap="square">
            <a:spAutoFit/>
          </a:bodyPr>
          <a:lstStyle/>
          <a:p>
            <a:r>
              <a:rPr lang="en-US" sz="2400" b="1" dirty="0">
                <a:solidFill>
                  <a:srgbClr val="602C08"/>
                </a:solidFill>
                <a:latin typeface="Times New Roman" panose="02020603050405020304" pitchFamily="18" charset="0"/>
                <a:cs typeface="Times New Roman" panose="02020603050405020304" pitchFamily="18" charset="0"/>
              </a:rPr>
              <a:t>Mutation: Gly12 → Asp12 (Chain A)</a:t>
            </a:r>
          </a:p>
        </p:txBody>
      </p:sp>
      <p:sp>
        <p:nvSpPr>
          <p:cNvPr id="26" name="Rectangle 25">
            <a:extLst>
              <a:ext uri="{FF2B5EF4-FFF2-40B4-BE49-F238E27FC236}">
                <a16:creationId xmlns:a16="http://schemas.microsoft.com/office/drawing/2014/main" id="{15DD094C-5963-446E-99FA-D9C761D5DE05}"/>
              </a:ext>
            </a:extLst>
          </p:cNvPr>
          <p:cNvSpPr/>
          <p:nvPr/>
        </p:nvSpPr>
        <p:spPr>
          <a:xfrm>
            <a:off x="8803080" y="2441487"/>
            <a:ext cx="3388920" cy="646331"/>
          </a:xfrm>
          <a:prstGeom prst="rect">
            <a:avLst/>
          </a:prstGeom>
        </p:spPr>
        <p:txBody>
          <a:bodyPr wrap="square">
            <a:spAutoFit/>
          </a:bodyPr>
          <a:lstStyle/>
          <a:p>
            <a:r>
              <a:rPr lang="en-US" sz="1200" i="1" dirty="0">
                <a:latin typeface="Times New Roman" panose="02020603050405020304" pitchFamily="18" charset="0"/>
                <a:cs typeface="Times New Roman" panose="02020603050405020304" pitchFamily="18" charset="0"/>
              </a:rPr>
              <a:t>Figure:4OBE (pink) vs 6VJJ (light blue), Chain A only. Switch-II highlighted red (4OBE)/dark blue (6VJJ).</a:t>
            </a:r>
          </a:p>
        </p:txBody>
      </p:sp>
      <p:sp>
        <p:nvSpPr>
          <p:cNvPr id="27" name="Rectangle 26">
            <a:extLst>
              <a:ext uri="{FF2B5EF4-FFF2-40B4-BE49-F238E27FC236}">
                <a16:creationId xmlns:a16="http://schemas.microsoft.com/office/drawing/2014/main" id="{A8645B40-0C74-4C8D-9BB5-227EB46FD0D3}"/>
              </a:ext>
            </a:extLst>
          </p:cNvPr>
          <p:cNvSpPr/>
          <p:nvPr/>
        </p:nvSpPr>
        <p:spPr>
          <a:xfrm>
            <a:off x="9217466" y="20530"/>
            <a:ext cx="2063385" cy="369332"/>
          </a:xfrm>
          <a:prstGeom prst="rect">
            <a:avLst/>
          </a:prstGeom>
        </p:spPr>
        <p:txBody>
          <a:bodyPr wrap="none">
            <a:spAutoFit/>
          </a:bodyPr>
          <a:lstStyle/>
          <a:p>
            <a:r>
              <a:rPr lang="en-US" b="1" dirty="0">
                <a:solidFill>
                  <a:srgbClr val="602C08"/>
                </a:solidFill>
                <a:latin typeface="Times New Roman" panose="02020603050405020304" pitchFamily="18" charset="0"/>
                <a:cs typeface="Times New Roman" panose="02020603050405020304" pitchFamily="18" charset="0"/>
              </a:rPr>
              <a:t>Structural Overlay</a:t>
            </a:r>
          </a:p>
        </p:txBody>
      </p:sp>
      <p:graphicFrame>
        <p:nvGraphicFramePr>
          <p:cNvPr id="28" name="Table 27">
            <a:extLst>
              <a:ext uri="{FF2B5EF4-FFF2-40B4-BE49-F238E27FC236}">
                <a16:creationId xmlns:a16="http://schemas.microsoft.com/office/drawing/2014/main" id="{FB160F5D-A8A9-4A53-8ABA-1E23702EFAAA}"/>
              </a:ext>
            </a:extLst>
          </p:cNvPr>
          <p:cNvGraphicFramePr>
            <a:graphicFrameLocks noGrp="1"/>
          </p:cNvGraphicFramePr>
          <p:nvPr>
            <p:extLst>
              <p:ext uri="{D42A27DB-BD31-4B8C-83A1-F6EECF244321}">
                <p14:modId xmlns:p14="http://schemas.microsoft.com/office/powerpoint/2010/main" val="3965345488"/>
              </p:ext>
            </p:extLst>
          </p:nvPr>
        </p:nvGraphicFramePr>
        <p:xfrm>
          <a:off x="1091420" y="2655030"/>
          <a:ext cx="4312118" cy="1153563"/>
        </p:xfrm>
        <a:graphic>
          <a:graphicData uri="http://schemas.openxmlformats.org/drawingml/2006/table">
            <a:tbl>
              <a:tblPr>
                <a:tableStyleId>{8799B23B-EC83-4686-B30A-512413B5E67A}</a:tableStyleId>
              </a:tblPr>
              <a:tblGrid>
                <a:gridCol w="1487603">
                  <a:extLst>
                    <a:ext uri="{9D8B030D-6E8A-4147-A177-3AD203B41FA5}">
                      <a16:colId xmlns:a16="http://schemas.microsoft.com/office/drawing/2014/main" val="521033268"/>
                    </a:ext>
                  </a:extLst>
                </a:gridCol>
                <a:gridCol w="870586">
                  <a:extLst>
                    <a:ext uri="{9D8B030D-6E8A-4147-A177-3AD203B41FA5}">
                      <a16:colId xmlns:a16="http://schemas.microsoft.com/office/drawing/2014/main" val="377084911"/>
                    </a:ext>
                  </a:extLst>
                </a:gridCol>
                <a:gridCol w="1953929">
                  <a:extLst>
                    <a:ext uri="{9D8B030D-6E8A-4147-A177-3AD203B41FA5}">
                      <a16:colId xmlns:a16="http://schemas.microsoft.com/office/drawing/2014/main" val="85187010"/>
                    </a:ext>
                  </a:extLst>
                </a:gridCol>
              </a:tblGrid>
              <a:tr h="313235">
                <a:tc>
                  <a:txBody>
                    <a:bodyPr/>
                    <a:lstStyle/>
                    <a:p>
                      <a:r>
                        <a:rPr lang="en-US" sz="1200" dirty="0">
                          <a:solidFill>
                            <a:schemeClr val="bg1"/>
                          </a:solidFill>
                          <a:latin typeface="Times New Roman" panose="02020603050405020304" pitchFamily="18" charset="0"/>
                          <a:cs typeface="Times New Roman" panose="02020603050405020304" pitchFamily="18" charset="0"/>
                        </a:rPr>
                        <a:t>Comparison</a:t>
                      </a:r>
                    </a:p>
                  </a:txBody>
                  <a:tcPr anchor="ctr">
                    <a:solidFill>
                      <a:srgbClr val="602C08"/>
                    </a:solidFill>
                  </a:tcPr>
                </a:tc>
                <a:tc>
                  <a:txBody>
                    <a:bodyPr/>
                    <a:lstStyle/>
                    <a:p>
                      <a:r>
                        <a:rPr lang="en-US" sz="1200" dirty="0">
                          <a:solidFill>
                            <a:schemeClr val="bg1"/>
                          </a:solidFill>
                          <a:latin typeface="Times New Roman" panose="02020603050405020304" pitchFamily="18" charset="0"/>
                          <a:cs typeface="Times New Roman" panose="02020603050405020304" pitchFamily="18" charset="0"/>
                        </a:rPr>
                        <a:t>RMSD</a:t>
                      </a:r>
                    </a:p>
                  </a:txBody>
                  <a:tcPr anchor="ctr">
                    <a:solidFill>
                      <a:srgbClr val="602C08"/>
                    </a:solidFill>
                  </a:tcPr>
                </a:tc>
                <a:tc>
                  <a:txBody>
                    <a:bodyPr/>
                    <a:lstStyle/>
                    <a:p>
                      <a:r>
                        <a:rPr lang="en-US" sz="1200" dirty="0">
                          <a:solidFill>
                            <a:schemeClr val="bg1"/>
                          </a:solidFill>
                          <a:latin typeface="Times New Roman" panose="02020603050405020304" pitchFamily="18" charset="0"/>
                          <a:cs typeface="Times New Roman" panose="02020603050405020304" pitchFamily="18" charset="0"/>
                        </a:rPr>
                        <a:t>Meaning</a:t>
                      </a:r>
                    </a:p>
                  </a:txBody>
                  <a:tcPr anchor="ctr">
                    <a:solidFill>
                      <a:srgbClr val="602C08"/>
                    </a:solidFill>
                  </a:tcPr>
                </a:tc>
                <a:extLst>
                  <a:ext uri="{0D108BD9-81ED-4DB2-BD59-A6C34878D82A}">
                    <a16:rowId xmlns:a16="http://schemas.microsoft.com/office/drawing/2014/main" val="4244383586"/>
                  </a:ext>
                </a:extLst>
              </a:tr>
              <a:tr h="420164">
                <a:tc>
                  <a:txBody>
                    <a:bodyPr/>
                    <a:lstStyle/>
                    <a:p>
                      <a:r>
                        <a:rPr lang="en-US" sz="1200" dirty="0">
                          <a:latin typeface="Times New Roman" panose="02020603050405020304" pitchFamily="18" charset="0"/>
                          <a:cs typeface="Times New Roman" panose="02020603050405020304" pitchFamily="18" charset="0"/>
                        </a:rPr>
                        <a:t>Overall backbone</a:t>
                      </a:r>
                    </a:p>
                  </a:txBody>
                  <a:tcPr anchor="ctr"/>
                </a:tc>
                <a:tc>
                  <a:txBody>
                    <a:bodyPr/>
                    <a:lstStyle/>
                    <a:p>
                      <a:r>
                        <a:rPr lang="en-US" sz="1200" dirty="0">
                          <a:latin typeface="Times New Roman" panose="02020603050405020304" pitchFamily="18" charset="0"/>
                          <a:cs typeface="Times New Roman" panose="02020603050405020304" pitchFamily="18" charset="0"/>
                        </a:rPr>
                        <a:t>0.769 Å</a:t>
                      </a:r>
                    </a:p>
                  </a:txBody>
                  <a:tcPr anchor="ctr"/>
                </a:tc>
                <a:tc>
                  <a:txBody>
                    <a:bodyPr/>
                    <a:lstStyle/>
                    <a:p>
                      <a:r>
                        <a:rPr lang="en-US" sz="1200" dirty="0">
                          <a:latin typeface="Times New Roman" panose="02020603050405020304" pitchFamily="18" charset="0"/>
                          <a:cs typeface="Times New Roman" panose="02020603050405020304" pitchFamily="18" charset="0"/>
                        </a:rPr>
                        <a:t>Structure largely unchanged</a:t>
                      </a:r>
                    </a:p>
                  </a:txBody>
                  <a:tcPr anchor="ctr"/>
                </a:tc>
                <a:extLst>
                  <a:ext uri="{0D108BD9-81ED-4DB2-BD59-A6C34878D82A}">
                    <a16:rowId xmlns:a16="http://schemas.microsoft.com/office/drawing/2014/main" val="379533145"/>
                  </a:ext>
                </a:extLst>
              </a:tr>
              <a:tr h="420164">
                <a:tc>
                  <a:txBody>
                    <a:bodyPr/>
                    <a:lstStyle/>
                    <a:p>
                      <a:r>
                        <a:rPr lang="en-US" sz="1200">
                          <a:latin typeface="Times New Roman" panose="02020603050405020304" pitchFamily="18" charset="0"/>
                          <a:cs typeface="Times New Roman" panose="02020603050405020304" pitchFamily="18" charset="0"/>
                        </a:rPr>
                        <a:t>Switch-II region</a:t>
                      </a:r>
                    </a:p>
                  </a:txBody>
                  <a:tcPr anchor="ctr"/>
                </a:tc>
                <a:tc>
                  <a:txBody>
                    <a:bodyPr/>
                    <a:lstStyle/>
                    <a:p>
                      <a:r>
                        <a:rPr lang="en-US" sz="1200">
                          <a:latin typeface="Times New Roman" panose="02020603050405020304" pitchFamily="18" charset="0"/>
                          <a:cs typeface="Times New Roman" panose="02020603050405020304" pitchFamily="18" charset="0"/>
                        </a:rPr>
                        <a:t>4.421 Å</a:t>
                      </a:r>
                    </a:p>
                  </a:txBody>
                  <a:tcPr anchor="ctr"/>
                </a:tc>
                <a:tc>
                  <a:txBody>
                    <a:bodyPr/>
                    <a:lstStyle/>
                    <a:p>
                      <a:r>
                        <a:rPr lang="en-US" sz="1200" dirty="0">
                          <a:latin typeface="Times New Roman" panose="02020603050405020304" pitchFamily="18" charset="0"/>
                          <a:cs typeface="Times New Roman" panose="02020603050405020304" pitchFamily="18" charset="0"/>
                        </a:rPr>
                        <a:t>Localized, significant shift</a:t>
                      </a:r>
                    </a:p>
                  </a:txBody>
                  <a:tcPr anchor="ctr"/>
                </a:tc>
                <a:extLst>
                  <a:ext uri="{0D108BD9-81ED-4DB2-BD59-A6C34878D82A}">
                    <a16:rowId xmlns:a16="http://schemas.microsoft.com/office/drawing/2014/main" val="1105214995"/>
                  </a:ext>
                </a:extLst>
              </a:tr>
            </a:tbl>
          </a:graphicData>
        </a:graphic>
      </p:graphicFrame>
      <p:sp>
        <p:nvSpPr>
          <p:cNvPr id="29" name="Rectangle 28">
            <a:extLst>
              <a:ext uri="{FF2B5EF4-FFF2-40B4-BE49-F238E27FC236}">
                <a16:creationId xmlns:a16="http://schemas.microsoft.com/office/drawing/2014/main" id="{6E28580E-6F13-41F8-9602-F04D6EB18100}"/>
              </a:ext>
            </a:extLst>
          </p:cNvPr>
          <p:cNvSpPr/>
          <p:nvPr/>
        </p:nvSpPr>
        <p:spPr>
          <a:xfrm>
            <a:off x="1091420" y="3996189"/>
            <a:ext cx="6860777" cy="584775"/>
          </a:xfrm>
          <a:prstGeom prst="rect">
            <a:avLst/>
          </a:prstGeom>
        </p:spPr>
        <p:txBody>
          <a:bodyPr wrap="square">
            <a:spAutoFit/>
          </a:bodyPr>
          <a:lstStyle/>
          <a:p>
            <a:r>
              <a:rPr lang="en-US" sz="1600" dirty="0">
                <a:latin typeface="Times New Roman" panose="02020603050405020304" pitchFamily="18" charset="0"/>
                <a:cs typeface="Times New Roman" panose="02020603050405020304" pitchFamily="18" charset="0"/>
              </a:rPr>
              <a:t>Change concentrated in switch-II — confirms 4OBE (open pocket) as the correct template</a:t>
            </a:r>
          </a:p>
        </p:txBody>
      </p:sp>
      <p:sp>
        <p:nvSpPr>
          <p:cNvPr id="30" name="Rectangle 2">
            <a:extLst>
              <a:ext uri="{FF2B5EF4-FFF2-40B4-BE49-F238E27FC236}">
                <a16:creationId xmlns:a16="http://schemas.microsoft.com/office/drawing/2014/main" id="{9F0272FD-B539-43F5-A933-598718CE1E6F}"/>
              </a:ext>
            </a:extLst>
          </p:cNvPr>
          <p:cNvSpPr>
            <a:spLocks noChangeArrowheads="1"/>
          </p:cNvSpPr>
          <p:nvPr/>
        </p:nvSpPr>
        <p:spPr bwMode="auto">
          <a:xfrm>
            <a:off x="1091421" y="4749600"/>
            <a:ext cx="6860776"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Rotamer: χ1 = 62.7°, χ2 = -11.0°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Steric: contacts 2.2–3.2 Å (no clash), Cβ dev 0.07 Å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Electrostatic: negative charge added to P-loop → repels phosphate → impairs GTP hydrolysis </a:t>
            </a:r>
          </a:p>
        </p:txBody>
      </p:sp>
    </p:spTree>
    <p:extLst>
      <p:ext uri="{BB962C8B-B14F-4D97-AF65-F5344CB8AC3E}">
        <p14:creationId xmlns:p14="http://schemas.microsoft.com/office/powerpoint/2010/main" val="2950723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FA2C03D-226B-4594-818C-5C7B788A403E}"/>
              </a:ext>
            </a:extLst>
          </p:cNvPr>
          <p:cNvSpPr/>
          <p:nvPr/>
        </p:nvSpPr>
        <p:spPr>
          <a:xfrm>
            <a:off x="686281" y="305445"/>
            <a:ext cx="2980111" cy="461665"/>
          </a:xfrm>
          <a:prstGeom prst="rect">
            <a:avLst/>
          </a:prstGeom>
        </p:spPr>
        <p:txBody>
          <a:bodyPr wrap="none">
            <a:spAutoFit/>
          </a:bodyPr>
          <a:lstStyle/>
          <a:p>
            <a:r>
              <a:rPr lang="en-US" sz="2400" b="1" dirty="0">
                <a:solidFill>
                  <a:srgbClr val="602C08"/>
                </a:solidFill>
                <a:latin typeface="Times New Roman" panose="02020603050405020304" pitchFamily="18" charset="0"/>
                <a:cs typeface="Times New Roman" panose="02020603050405020304" pitchFamily="18" charset="0"/>
              </a:rPr>
              <a:t>Structural Validation</a:t>
            </a:r>
          </a:p>
        </p:txBody>
      </p:sp>
      <p:pic>
        <p:nvPicPr>
          <p:cNvPr id="3" name="Picture 2">
            <a:extLst>
              <a:ext uri="{FF2B5EF4-FFF2-40B4-BE49-F238E27FC236}">
                <a16:creationId xmlns:a16="http://schemas.microsoft.com/office/drawing/2014/main" id="{55A101CD-D1A9-41CD-A31D-7A4BDD877F73}"/>
              </a:ext>
            </a:extLst>
          </p:cNvPr>
          <p:cNvPicPr/>
          <p:nvPr/>
        </p:nvPicPr>
        <p:blipFill rotWithShape="1">
          <a:blip r:embed="rId2">
            <a:extLst>
              <a:ext uri="{28A0092B-C50C-407E-A947-70E740481C1C}">
                <a14:useLocalDpi xmlns:a14="http://schemas.microsoft.com/office/drawing/2010/main" val="0"/>
              </a:ext>
            </a:extLst>
          </a:blip>
          <a:srcRect l="11966" t="19299" r="14102"/>
          <a:stretch/>
        </p:blipFill>
        <p:spPr bwMode="auto">
          <a:xfrm>
            <a:off x="4124967" y="4625648"/>
            <a:ext cx="3779907" cy="1825766"/>
          </a:xfrm>
          <a:prstGeom prst="rect">
            <a:avLst/>
          </a:prstGeom>
          <a:ln>
            <a:noFill/>
          </a:ln>
          <a:effectLst>
            <a:softEdge rad="31750"/>
          </a:effectLst>
          <a:extLst>
            <a:ext uri="{53640926-AAD7-44D8-BBD7-CCE9431645EC}">
              <a14:shadowObscured xmlns:a14="http://schemas.microsoft.com/office/drawing/2010/main"/>
            </a:ext>
          </a:extLst>
        </p:spPr>
      </p:pic>
      <p:pic>
        <p:nvPicPr>
          <p:cNvPr id="4" name="Picture 3">
            <a:extLst>
              <a:ext uri="{FF2B5EF4-FFF2-40B4-BE49-F238E27FC236}">
                <a16:creationId xmlns:a16="http://schemas.microsoft.com/office/drawing/2014/main" id="{03097F67-DE4E-4748-831F-451D89E6F562}"/>
              </a:ext>
            </a:extLst>
          </p:cNvPr>
          <p:cNvPicPr/>
          <p:nvPr/>
        </p:nvPicPr>
        <p:blipFill rotWithShape="1">
          <a:blip r:embed="rId3" cstate="print">
            <a:extLst>
              <a:ext uri="{28A0092B-C50C-407E-A947-70E740481C1C}">
                <a14:useLocalDpi xmlns:a14="http://schemas.microsoft.com/office/drawing/2010/main" val="0"/>
              </a:ext>
            </a:extLst>
          </a:blip>
          <a:srcRect l="4533"/>
          <a:stretch/>
        </p:blipFill>
        <p:spPr>
          <a:xfrm>
            <a:off x="169656" y="4509174"/>
            <a:ext cx="3881117" cy="1942240"/>
          </a:xfrm>
          <a:prstGeom prst="rect">
            <a:avLst/>
          </a:prstGeom>
          <a:effectLst>
            <a:softEdge rad="31750"/>
          </a:effectLst>
        </p:spPr>
      </p:pic>
      <p:graphicFrame>
        <p:nvGraphicFramePr>
          <p:cNvPr id="6" name="Table 5">
            <a:extLst>
              <a:ext uri="{FF2B5EF4-FFF2-40B4-BE49-F238E27FC236}">
                <a16:creationId xmlns:a16="http://schemas.microsoft.com/office/drawing/2014/main" id="{90F12920-3CC7-4A47-9485-32DCE2231CD7}"/>
              </a:ext>
            </a:extLst>
          </p:cNvPr>
          <p:cNvGraphicFramePr>
            <a:graphicFrameLocks noGrp="1"/>
          </p:cNvGraphicFramePr>
          <p:nvPr>
            <p:extLst>
              <p:ext uri="{D42A27DB-BD31-4B8C-83A1-F6EECF244321}">
                <p14:modId xmlns:p14="http://schemas.microsoft.com/office/powerpoint/2010/main" val="364036877"/>
              </p:ext>
            </p:extLst>
          </p:nvPr>
        </p:nvGraphicFramePr>
        <p:xfrm>
          <a:off x="423846" y="949945"/>
          <a:ext cx="6458884" cy="3397671"/>
        </p:xfrm>
        <a:graphic>
          <a:graphicData uri="http://schemas.openxmlformats.org/drawingml/2006/table">
            <a:tbl>
              <a:tblPr firstRow="1" firstCol="1" bandRow="1">
                <a:tableStyleId>{F2DE63D5-997A-4646-A377-4702673A728D}</a:tableStyleId>
              </a:tblPr>
              <a:tblGrid>
                <a:gridCol w="1841895">
                  <a:extLst>
                    <a:ext uri="{9D8B030D-6E8A-4147-A177-3AD203B41FA5}">
                      <a16:colId xmlns:a16="http://schemas.microsoft.com/office/drawing/2014/main" val="13525350"/>
                    </a:ext>
                  </a:extLst>
                </a:gridCol>
                <a:gridCol w="1596731">
                  <a:extLst>
                    <a:ext uri="{9D8B030D-6E8A-4147-A177-3AD203B41FA5}">
                      <a16:colId xmlns:a16="http://schemas.microsoft.com/office/drawing/2014/main" val="2060471936"/>
                    </a:ext>
                  </a:extLst>
                </a:gridCol>
                <a:gridCol w="3020258">
                  <a:extLst>
                    <a:ext uri="{9D8B030D-6E8A-4147-A177-3AD203B41FA5}">
                      <a16:colId xmlns:a16="http://schemas.microsoft.com/office/drawing/2014/main" val="974656046"/>
                    </a:ext>
                  </a:extLst>
                </a:gridCol>
              </a:tblGrid>
              <a:tr h="363356">
                <a:tc>
                  <a:txBody>
                    <a:bodyPr/>
                    <a:lstStyle/>
                    <a:p>
                      <a:r>
                        <a:rPr lang="en-US" sz="1400" dirty="0"/>
                        <a:t>Validation Method</a:t>
                      </a:r>
                      <a:endParaRPr lang="en-US" sz="1400" dirty="0">
                        <a:solidFill>
                          <a:schemeClr val="bg1"/>
                        </a:solidFill>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solidFill>
                      <a:srgbClr val="602C08"/>
                    </a:solidFill>
                  </a:tcPr>
                </a:tc>
                <a:tc>
                  <a:txBody>
                    <a:bodyPr/>
                    <a:lstStyle/>
                    <a:p>
                      <a:r>
                        <a:rPr lang="en-US" sz="1400" dirty="0"/>
                        <a:t>Score</a:t>
                      </a:r>
                      <a:endParaRPr lang="en-US" sz="1400" dirty="0">
                        <a:solidFill>
                          <a:schemeClr val="bg1"/>
                        </a:solidFill>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solidFill>
                      <a:srgbClr val="602C08"/>
                    </a:solidFill>
                  </a:tcPr>
                </a:tc>
                <a:tc>
                  <a:txBody>
                    <a:bodyPr/>
                    <a:lstStyle/>
                    <a:p>
                      <a:r>
                        <a:rPr lang="en-US" sz="1400" dirty="0"/>
                        <a:t>Interpretation</a:t>
                      </a:r>
                      <a:endParaRPr lang="en-US" sz="1400" dirty="0">
                        <a:solidFill>
                          <a:schemeClr val="bg1"/>
                        </a:solidFill>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solidFill>
                      <a:srgbClr val="602C08"/>
                    </a:solidFill>
                  </a:tcPr>
                </a:tc>
                <a:extLst>
                  <a:ext uri="{0D108BD9-81ED-4DB2-BD59-A6C34878D82A}">
                    <a16:rowId xmlns:a16="http://schemas.microsoft.com/office/drawing/2014/main" val="3607167560"/>
                  </a:ext>
                </a:extLst>
              </a:tr>
              <a:tr h="477141">
                <a:tc>
                  <a:txBody>
                    <a:bodyPr/>
                    <a:lstStyle/>
                    <a:p>
                      <a:pPr algn="ctr"/>
                      <a:r>
                        <a:rPr lang="en-US" sz="1400" dirty="0" err="1">
                          <a:latin typeface="Times New Roman" panose="02020603050405020304" pitchFamily="18" charset="0"/>
                          <a:cs typeface="Times New Roman" panose="02020603050405020304" pitchFamily="18" charset="0"/>
                        </a:rPr>
                        <a:t>MolProbity</a:t>
                      </a:r>
                      <a:r>
                        <a:rPr lang="en-US" sz="1400" dirty="0">
                          <a:latin typeface="Times New Roman" panose="02020603050405020304" pitchFamily="18" charset="0"/>
                          <a:cs typeface="Times New Roman" panose="02020603050405020304" pitchFamily="18" charset="0"/>
                        </a:rPr>
                        <a:t> 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0.74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Excellent overall geometry (100th percentile)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7978229"/>
                  </a:ext>
                </a:extLst>
              </a:tr>
              <a:tr h="390019">
                <a:tc>
                  <a:txBody>
                    <a:bodyPr/>
                    <a:lstStyle/>
                    <a:p>
                      <a:pPr algn="ctr"/>
                      <a:r>
                        <a:rPr lang="en-US" sz="1400" dirty="0" err="1">
                          <a:latin typeface="Times New Roman" panose="02020603050405020304" pitchFamily="18" charset="0"/>
                          <a:cs typeface="Times New Roman" panose="02020603050405020304" pitchFamily="18" charset="0"/>
                        </a:rPr>
                        <a:t>Clashscore</a:t>
                      </a:r>
                      <a:endParaRPr lang="en-US" sz="1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0.75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Minimal steric clashes (99th percentile)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6230006"/>
                  </a:ext>
                </a:extLst>
              </a:tr>
              <a:tr h="477141">
                <a:tc>
                  <a:txBody>
                    <a:bodyPr/>
                    <a:lstStyle/>
                    <a:p>
                      <a:pPr algn="ctr"/>
                      <a:r>
                        <a:rPr lang="en-US" sz="1400" dirty="0">
                          <a:latin typeface="Times New Roman" panose="02020603050405020304" pitchFamily="18" charset="0"/>
                          <a:cs typeface="Times New Roman" panose="02020603050405020304" pitchFamily="18" charset="0"/>
                        </a:rPr>
                        <a:t>ERRAT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95.031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High-quality non-bonded interaction pattern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558892"/>
                  </a:ext>
                </a:extLst>
              </a:tr>
              <a:tr h="571656">
                <a:tc>
                  <a:txBody>
                    <a:bodyPr/>
                    <a:lstStyle/>
                    <a:p>
                      <a:pPr algn="ctr"/>
                      <a:r>
                        <a:rPr lang="en-US" sz="1400">
                          <a:latin typeface="Times New Roman" panose="02020603050405020304" pitchFamily="18" charset="0"/>
                          <a:cs typeface="Times New Roman" panose="02020603050405020304" pitchFamily="18" charset="0"/>
                        </a:rPr>
                        <a:t>Verify3D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86.98% residues ≥0.1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Passed structural environment validation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5791181"/>
                  </a:ext>
                </a:extLst>
              </a:tr>
              <a:tr h="477141">
                <a:tc>
                  <a:txBody>
                    <a:bodyPr/>
                    <a:lstStyle/>
                    <a:p>
                      <a:pPr algn="ctr"/>
                      <a:r>
                        <a:rPr lang="en-US" sz="1400">
                          <a:latin typeface="Times New Roman" panose="02020603050405020304" pitchFamily="18" charset="0"/>
                          <a:cs typeface="Times New Roman" panose="02020603050405020304" pitchFamily="18" charset="0"/>
                        </a:rPr>
                        <a:t>Ramachandran Favored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Times New Roman" panose="02020603050405020304" pitchFamily="18" charset="0"/>
                          <a:cs typeface="Times New Roman" panose="02020603050405020304" pitchFamily="18" charset="0"/>
                        </a:rPr>
                        <a:t>98.81%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Backbone geometry within allowed limits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2030322"/>
                  </a:ext>
                </a:extLst>
              </a:tr>
              <a:tr h="400159">
                <a:tc>
                  <a:txBody>
                    <a:bodyPr/>
                    <a:lstStyle/>
                    <a:p>
                      <a:pPr algn="ctr"/>
                      <a:r>
                        <a:rPr lang="en-US" sz="1400">
                          <a:latin typeface="Times New Roman" panose="02020603050405020304" pitchFamily="18" charset="0"/>
                          <a:cs typeface="Times New Roman" panose="02020603050405020304" pitchFamily="18" charset="0"/>
                        </a:rPr>
                        <a:t>Ramachandran Outliers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latin typeface="Times New Roman" panose="02020603050405020304" pitchFamily="18" charset="0"/>
                          <a:cs typeface="Times New Roman" panose="02020603050405020304" pitchFamily="18" charset="0"/>
                        </a:rPr>
                        <a:t>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No residues in disallowed regions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7422377"/>
                  </a:ext>
                </a:extLst>
              </a:tr>
            </a:tbl>
          </a:graphicData>
        </a:graphic>
      </p:graphicFrame>
      <p:sp>
        <p:nvSpPr>
          <p:cNvPr id="7" name="Rectangle 1">
            <a:extLst>
              <a:ext uri="{FF2B5EF4-FFF2-40B4-BE49-F238E27FC236}">
                <a16:creationId xmlns:a16="http://schemas.microsoft.com/office/drawing/2014/main" id="{B285F66F-F7C2-44D0-86AF-C855CACD18D7}"/>
              </a:ext>
            </a:extLst>
          </p:cNvPr>
          <p:cNvSpPr>
            <a:spLocks noChangeArrowheads="1"/>
          </p:cNvSpPr>
          <p:nvPr/>
        </p:nvSpPr>
        <p:spPr bwMode="auto">
          <a:xfrm>
            <a:off x="17602200" y="4187516"/>
            <a:ext cx="782086" cy="369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2352"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graphicFrame>
        <p:nvGraphicFramePr>
          <p:cNvPr id="8" name="Table 7">
            <a:extLst>
              <a:ext uri="{FF2B5EF4-FFF2-40B4-BE49-F238E27FC236}">
                <a16:creationId xmlns:a16="http://schemas.microsoft.com/office/drawing/2014/main" id="{FAA251A0-31B2-41B7-B115-C622CBE28471}"/>
              </a:ext>
            </a:extLst>
          </p:cNvPr>
          <p:cNvGraphicFramePr>
            <a:graphicFrameLocks noGrp="1"/>
          </p:cNvGraphicFramePr>
          <p:nvPr>
            <p:extLst>
              <p:ext uri="{D42A27DB-BD31-4B8C-83A1-F6EECF244321}">
                <p14:modId xmlns:p14="http://schemas.microsoft.com/office/powerpoint/2010/main" val="4149481217"/>
              </p:ext>
            </p:extLst>
          </p:nvPr>
        </p:nvGraphicFramePr>
        <p:xfrm>
          <a:off x="11628250" y="5997347"/>
          <a:ext cx="416560" cy="365760"/>
        </p:xfrm>
        <a:graphic>
          <a:graphicData uri="http://schemas.openxmlformats.org/drawingml/2006/table">
            <a:tbl>
              <a:tblPr/>
              <a:tblGrid>
                <a:gridCol w="208280">
                  <a:extLst>
                    <a:ext uri="{9D8B030D-6E8A-4147-A177-3AD203B41FA5}">
                      <a16:colId xmlns:a16="http://schemas.microsoft.com/office/drawing/2014/main" val="4195903976"/>
                    </a:ext>
                  </a:extLst>
                </a:gridCol>
                <a:gridCol w="208280">
                  <a:extLst>
                    <a:ext uri="{9D8B030D-6E8A-4147-A177-3AD203B41FA5}">
                      <a16:colId xmlns:a16="http://schemas.microsoft.com/office/drawing/2014/main" val="2047849431"/>
                    </a:ext>
                  </a:extLst>
                </a:gridCol>
              </a:tblGrid>
              <a:tr h="0">
                <a:tc>
                  <a:txBody>
                    <a:bodyPr/>
                    <a:lstStyle/>
                    <a:p>
                      <a:endParaRPr lang="en-US" dirty="0"/>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extLst>
                  <a:ext uri="{0D108BD9-81ED-4DB2-BD59-A6C34878D82A}">
                    <a16:rowId xmlns:a16="http://schemas.microsoft.com/office/drawing/2014/main" val="3795708501"/>
                  </a:ext>
                </a:extLst>
              </a:tr>
            </a:tbl>
          </a:graphicData>
        </a:graphic>
      </p:graphicFrame>
      <p:graphicFrame>
        <p:nvGraphicFramePr>
          <p:cNvPr id="9" name="Table 8">
            <a:extLst>
              <a:ext uri="{FF2B5EF4-FFF2-40B4-BE49-F238E27FC236}">
                <a16:creationId xmlns:a16="http://schemas.microsoft.com/office/drawing/2014/main" id="{C23C98D8-C327-4E9E-A7EC-BEB6878654AD}"/>
              </a:ext>
            </a:extLst>
          </p:cNvPr>
          <p:cNvGraphicFramePr>
            <a:graphicFrameLocks noGrp="1"/>
          </p:cNvGraphicFramePr>
          <p:nvPr>
            <p:extLst>
              <p:ext uri="{D42A27DB-BD31-4B8C-83A1-F6EECF244321}">
                <p14:modId xmlns:p14="http://schemas.microsoft.com/office/powerpoint/2010/main" val="2091385283"/>
              </p:ext>
            </p:extLst>
          </p:nvPr>
        </p:nvGraphicFramePr>
        <p:xfrm>
          <a:off x="13791239" y="6269522"/>
          <a:ext cx="416560" cy="365760"/>
        </p:xfrm>
        <a:graphic>
          <a:graphicData uri="http://schemas.openxmlformats.org/drawingml/2006/table">
            <a:tbl>
              <a:tblPr/>
              <a:tblGrid>
                <a:gridCol w="208280">
                  <a:extLst>
                    <a:ext uri="{9D8B030D-6E8A-4147-A177-3AD203B41FA5}">
                      <a16:colId xmlns:a16="http://schemas.microsoft.com/office/drawing/2014/main" val="3456899334"/>
                    </a:ext>
                  </a:extLst>
                </a:gridCol>
                <a:gridCol w="208280">
                  <a:extLst>
                    <a:ext uri="{9D8B030D-6E8A-4147-A177-3AD203B41FA5}">
                      <a16:colId xmlns:a16="http://schemas.microsoft.com/office/drawing/2014/main" val="2445373233"/>
                    </a:ext>
                  </a:extLst>
                </a:gridCol>
              </a:tblGrid>
              <a:tr h="322616">
                <a:tc>
                  <a:txBody>
                    <a:bodyPr/>
                    <a:lstStyle/>
                    <a:p>
                      <a:endParaRPr lang="en-US" dirty="0"/>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extLst>
                  <a:ext uri="{0D108BD9-81ED-4DB2-BD59-A6C34878D82A}">
                    <a16:rowId xmlns:a16="http://schemas.microsoft.com/office/drawing/2014/main" val="2665458536"/>
                  </a:ext>
                </a:extLst>
              </a:tr>
            </a:tbl>
          </a:graphicData>
        </a:graphic>
      </p:graphicFrame>
      <p:sp>
        <p:nvSpPr>
          <p:cNvPr id="11" name="Rectangle 1">
            <a:extLst>
              <a:ext uri="{FF2B5EF4-FFF2-40B4-BE49-F238E27FC236}">
                <a16:creationId xmlns:a16="http://schemas.microsoft.com/office/drawing/2014/main" id="{A3F5828C-8303-48A5-992D-A23C10DC4585}"/>
              </a:ext>
            </a:extLst>
          </p:cNvPr>
          <p:cNvSpPr>
            <a:spLocks noChangeArrowheads="1"/>
          </p:cNvSpPr>
          <p:nvPr/>
        </p:nvSpPr>
        <p:spPr bwMode="auto">
          <a:xfrm>
            <a:off x="5988099" y="6371300"/>
            <a:ext cx="567391" cy="338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2352" rIns="0" bIns="0" numCol="1" anchor="ctr" anchorCtr="0" compatLnSpc="1">
            <a:prstTxWarp prst="textNoShape">
              <a:avLst/>
            </a:prstTxWarp>
            <a:spAutoFit/>
          </a:bodyPr>
          <a:lstStyle/>
          <a:p>
            <a:pPr lvl="0" defTabSz="914400" eaLnBrk="0" fontAlgn="base" hangingPunct="0">
              <a:spcBef>
                <a:spcPct val="0"/>
              </a:spcBef>
              <a:spcAft>
                <a:spcPct val="0"/>
              </a:spcAft>
            </a:pPr>
            <a:r>
              <a:rPr lang="en-US" sz="1200" b="1" dirty="0">
                <a:latin typeface="Times New Roman" panose="02020603050405020304" pitchFamily="18" charset="0"/>
                <a:cs typeface="Times New Roman" panose="02020603050405020304" pitchFamily="18" charset="0"/>
              </a:rPr>
              <a:t>ERRAT</a:t>
            </a:r>
            <a:endParaRPr kumimoji="0" lang="en-US" altLang="en-US" sz="1200" b="1" i="0" u="none" strike="noStrike" cap="none" normalizeH="0" baseline="0" dirty="0">
              <a:ln>
                <a:noFill/>
              </a:ln>
              <a:solidFill>
                <a:schemeClr val="bg1"/>
              </a:solidFill>
              <a:effectLst/>
              <a:latin typeface="Arial" panose="020B0604020202020204" pitchFamily="34" charset="0"/>
            </a:endParaRPr>
          </a:p>
        </p:txBody>
      </p:sp>
      <p:sp>
        <p:nvSpPr>
          <p:cNvPr id="12" name="Rectangle 11">
            <a:extLst>
              <a:ext uri="{FF2B5EF4-FFF2-40B4-BE49-F238E27FC236}">
                <a16:creationId xmlns:a16="http://schemas.microsoft.com/office/drawing/2014/main" id="{8054ED1B-1D06-4E89-9207-860C0DC632B2}"/>
              </a:ext>
            </a:extLst>
          </p:cNvPr>
          <p:cNvSpPr/>
          <p:nvPr/>
        </p:nvSpPr>
        <p:spPr>
          <a:xfrm>
            <a:off x="1787287" y="6524434"/>
            <a:ext cx="778098" cy="276999"/>
          </a:xfrm>
          <a:prstGeom prst="rect">
            <a:avLst/>
          </a:prstGeom>
        </p:spPr>
        <p:txBody>
          <a:bodyPr wrap="none">
            <a:spAutoFit/>
          </a:bodyPr>
          <a:lstStyle/>
          <a:p>
            <a:r>
              <a:rPr lang="en-US" sz="1200" b="1" dirty="0">
                <a:latin typeface="Times New Roman" panose="02020603050405020304" pitchFamily="18" charset="0"/>
                <a:cs typeface="Times New Roman" panose="02020603050405020304" pitchFamily="18" charset="0"/>
              </a:rPr>
              <a:t>Verify3D</a:t>
            </a:r>
            <a:endParaRPr lang="en-US" sz="1200" b="1" dirty="0"/>
          </a:p>
        </p:txBody>
      </p:sp>
      <p:pic>
        <p:nvPicPr>
          <p:cNvPr id="13" name="Picture 12">
            <a:extLst>
              <a:ext uri="{FF2B5EF4-FFF2-40B4-BE49-F238E27FC236}">
                <a16:creationId xmlns:a16="http://schemas.microsoft.com/office/drawing/2014/main" id="{C701AD57-67ED-4A12-AD37-AFF51C7AF3A4}"/>
              </a:ext>
            </a:extLst>
          </p:cNvPr>
          <p:cNvPicPr/>
          <p:nvPr/>
        </p:nvPicPr>
        <p:blipFill rotWithShape="1">
          <a:blip r:embed="rId4">
            <a:extLst>
              <a:ext uri="{28A0092B-C50C-407E-A947-70E740481C1C}">
                <a14:useLocalDpi xmlns:a14="http://schemas.microsoft.com/office/drawing/2010/main" val="0"/>
              </a:ext>
            </a:extLst>
          </a:blip>
          <a:srcRect l="11140" r="11302" b="5073"/>
          <a:stretch/>
        </p:blipFill>
        <p:spPr>
          <a:xfrm>
            <a:off x="7807679" y="35405"/>
            <a:ext cx="3960475" cy="3633846"/>
          </a:xfrm>
          <a:prstGeom prst="rect">
            <a:avLst/>
          </a:prstGeom>
          <a:effectLst>
            <a:softEdge rad="31750"/>
          </a:effectLst>
        </p:spPr>
      </p:pic>
      <p:pic>
        <p:nvPicPr>
          <p:cNvPr id="14" name="Picture 13">
            <a:extLst>
              <a:ext uri="{FF2B5EF4-FFF2-40B4-BE49-F238E27FC236}">
                <a16:creationId xmlns:a16="http://schemas.microsoft.com/office/drawing/2014/main" id="{BF8C60D7-AAC5-476F-8723-68AC71B70D83}"/>
              </a:ext>
            </a:extLst>
          </p:cNvPr>
          <p:cNvPicPr/>
          <p:nvPr/>
        </p:nvPicPr>
        <p:blipFill rotWithShape="1">
          <a:blip r:embed="rId5" cstate="print">
            <a:extLst>
              <a:ext uri="{28A0092B-C50C-407E-A947-70E740481C1C}">
                <a14:useLocalDpi xmlns:a14="http://schemas.microsoft.com/office/drawing/2010/main" val="0"/>
              </a:ext>
            </a:extLst>
          </a:blip>
          <a:srcRect l="1542" t="1899" r="15526"/>
          <a:stretch/>
        </p:blipFill>
        <p:spPr>
          <a:xfrm>
            <a:off x="7925654" y="3748245"/>
            <a:ext cx="4001716" cy="2713314"/>
          </a:xfrm>
          <a:prstGeom prst="rect">
            <a:avLst/>
          </a:prstGeom>
          <a:effectLst>
            <a:softEdge rad="31750"/>
          </a:effectLst>
        </p:spPr>
      </p:pic>
      <p:sp>
        <p:nvSpPr>
          <p:cNvPr id="16" name="Rectangle 15">
            <a:extLst>
              <a:ext uri="{FF2B5EF4-FFF2-40B4-BE49-F238E27FC236}">
                <a16:creationId xmlns:a16="http://schemas.microsoft.com/office/drawing/2014/main" id="{9FE396E8-4E3A-4C2D-9CCD-2A257D72206F}"/>
              </a:ext>
            </a:extLst>
          </p:cNvPr>
          <p:cNvSpPr/>
          <p:nvPr/>
        </p:nvSpPr>
        <p:spPr>
          <a:xfrm>
            <a:off x="8828746" y="6461559"/>
            <a:ext cx="2298915" cy="276999"/>
          </a:xfrm>
          <a:prstGeom prst="rect">
            <a:avLst/>
          </a:prstGeom>
        </p:spPr>
        <p:txBody>
          <a:bodyPr wrap="square">
            <a:spAutoFit/>
          </a:bodyPr>
          <a:lstStyle/>
          <a:p>
            <a:r>
              <a:rPr lang="en-US" sz="1200" b="1" dirty="0" err="1">
                <a:latin typeface="Times New Roman" panose="02020603050405020304" pitchFamily="18" charset="0"/>
                <a:cs typeface="Times New Roman" panose="02020603050405020304" pitchFamily="18" charset="0"/>
              </a:rPr>
              <a:t>MolProbity</a:t>
            </a:r>
            <a:r>
              <a:rPr lang="en-US" sz="1200" b="1" dirty="0">
                <a:latin typeface="Times New Roman" panose="02020603050405020304" pitchFamily="18" charset="0"/>
                <a:cs typeface="Times New Roman" panose="02020603050405020304" pitchFamily="18" charset="0"/>
              </a:rPr>
              <a:t> summary statistics </a:t>
            </a:r>
          </a:p>
        </p:txBody>
      </p:sp>
    </p:spTree>
    <p:extLst>
      <p:ext uri="{BB962C8B-B14F-4D97-AF65-F5344CB8AC3E}">
        <p14:creationId xmlns:p14="http://schemas.microsoft.com/office/powerpoint/2010/main" val="2522770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537493-AE64-405A-9474-9DCF806070FF}"/>
              </a:ext>
            </a:extLst>
          </p:cNvPr>
          <p:cNvSpPr/>
          <p:nvPr/>
        </p:nvSpPr>
        <p:spPr>
          <a:xfrm>
            <a:off x="716607" y="540166"/>
            <a:ext cx="4014240" cy="461665"/>
          </a:xfrm>
          <a:prstGeom prst="rect">
            <a:avLst/>
          </a:prstGeom>
        </p:spPr>
        <p:txBody>
          <a:bodyPr wrap="none">
            <a:spAutoFit/>
          </a:bodyPr>
          <a:lstStyle/>
          <a:p>
            <a:r>
              <a:rPr lang="en-US" sz="2400" b="1" dirty="0">
                <a:solidFill>
                  <a:srgbClr val="602C08"/>
                </a:solidFill>
                <a:latin typeface="Times New Roman" panose="02020603050405020304" pitchFamily="18" charset="0"/>
                <a:cs typeface="Times New Roman" panose="02020603050405020304" pitchFamily="18" charset="0"/>
              </a:rPr>
              <a:t>Switch-II Pocket &amp; Grid Box</a:t>
            </a:r>
          </a:p>
        </p:txBody>
      </p:sp>
      <p:pic>
        <p:nvPicPr>
          <p:cNvPr id="5" name="Content Placeholder 28">
            <a:extLst>
              <a:ext uri="{FF2B5EF4-FFF2-40B4-BE49-F238E27FC236}">
                <a16:creationId xmlns:a16="http://schemas.microsoft.com/office/drawing/2014/main" id="{0BDED6AD-FEBB-4F84-80F6-30372D7C4008}"/>
              </a:ext>
            </a:extLst>
          </p:cNvPr>
          <p:cNvPicPr>
            <a:picLocks/>
          </p:cNvPicPr>
          <p:nvPr/>
        </p:nvPicPr>
        <p:blipFill rotWithShape="1">
          <a:blip r:embed="rId2" cstate="print">
            <a:extLst>
              <a:ext uri="{28A0092B-C50C-407E-A947-70E740481C1C}">
                <a14:useLocalDpi xmlns:a14="http://schemas.microsoft.com/office/drawing/2010/main" val="0"/>
              </a:ext>
            </a:extLst>
          </a:blip>
          <a:srcRect l="10962" t="34224" r="48204" b="2787"/>
          <a:stretch/>
        </p:blipFill>
        <p:spPr>
          <a:xfrm>
            <a:off x="7970519" y="581661"/>
            <a:ext cx="3590223" cy="2635117"/>
          </a:xfrm>
          <a:prstGeom prst="rect">
            <a:avLst/>
          </a:prstGeom>
          <a:effectLst>
            <a:softEdge rad="31750"/>
          </a:effectLst>
        </p:spPr>
      </p:pic>
      <p:graphicFrame>
        <p:nvGraphicFramePr>
          <p:cNvPr id="6" name="Table 5">
            <a:extLst>
              <a:ext uri="{FF2B5EF4-FFF2-40B4-BE49-F238E27FC236}">
                <a16:creationId xmlns:a16="http://schemas.microsoft.com/office/drawing/2014/main" id="{6B5D5FB9-443D-4ECC-A100-14B5D6A89B66}"/>
              </a:ext>
            </a:extLst>
          </p:cNvPr>
          <p:cNvGraphicFramePr>
            <a:graphicFrameLocks noGrp="1"/>
          </p:cNvGraphicFramePr>
          <p:nvPr>
            <p:extLst>
              <p:ext uri="{D42A27DB-BD31-4B8C-83A1-F6EECF244321}">
                <p14:modId xmlns:p14="http://schemas.microsoft.com/office/powerpoint/2010/main" val="3341132702"/>
              </p:ext>
            </p:extLst>
          </p:nvPr>
        </p:nvGraphicFramePr>
        <p:xfrm>
          <a:off x="2249666" y="2540714"/>
          <a:ext cx="3773103" cy="1352129"/>
        </p:xfrm>
        <a:graphic>
          <a:graphicData uri="http://schemas.openxmlformats.org/drawingml/2006/table">
            <a:tbl>
              <a:tblPr firstRow="1" firstCol="1" bandRow="1">
                <a:tableStyleId>{F2DE63D5-997A-4646-A377-4702673A728D}</a:tableStyleId>
              </a:tblPr>
              <a:tblGrid>
                <a:gridCol w="1864520">
                  <a:extLst>
                    <a:ext uri="{9D8B030D-6E8A-4147-A177-3AD203B41FA5}">
                      <a16:colId xmlns:a16="http://schemas.microsoft.com/office/drawing/2014/main" val="4017214397"/>
                    </a:ext>
                  </a:extLst>
                </a:gridCol>
                <a:gridCol w="1908583">
                  <a:extLst>
                    <a:ext uri="{9D8B030D-6E8A-4147-A177-3AD203B41FA5}">
                      <a16:colId xmlns:a16="http://schemas.microsoft.com/office/drawing/2014/main" val="3823168426"/>
                    </a:ext>
                  </a:extLst>
                </a:gridCol>
              </a:tblGrid>
              <a:tr h="257135">
                <a:tc>
                  <a:txBody>
                    <a:bodyPr/>
                    <a:lstStyle/>
                    <a:p>
                      <a:pPr marL="0" marR="0" algn="ctr">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Parameter</a:t>
                      </a:r>
                      <a:endParaRPr lang="en-US" sz="1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02C08"/>
                    </a:solidFill>
                  </a:tcP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Value</a:t>
                      </a:r>
                      <a:endParaRPr lang="en-US" sz="12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02C08"/>
                    </a:solidFill>
                  </a:tcPr>
                </a:tc>
                <a:extLst>
                  <a:ext uri="{0D108BD9-81ED-4DB2-BD59-A6C34878D82A}">
                    <a16:rowId xmlns:a16="http://schemas.microsoft.com/office/drawing/2014/main" val="806269845"/>
                  </a:ext>
                </a:extLst>
              </a:tr>
              <a:tr h="160061">
                <a:tc>
                  <a:txBody>
                    <a:bodyPr/>
                    <a:lstStyle/>
                    <a:p>
                      <a:pPr marL="0" marR="0" algn="ctr">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Center X</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1.6986 Å</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328855"/>
                  </a:ext>
                </a:extLst>
              </a:tr>
              <a:tr h="160061">
                <a:tc>
                  <a:txBody>
                    <a:bodyPr/>
                    <a:lstStyle/>
                    <a:p>
                      <a:pPr marL="0" marR="0" algn="ctr">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Center Y</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19.8569</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3423838"/>
                  </a:ext>
                </a:extLst>
              </a:tr>
              <a:tr h="160061">
                <a:tc>
                  <a:txBody>
                    <a:bodyPr/>
                    <a:lstStyle/>
                    <a:p>
                      <a:pPr marL="0" marR="0" algn="ctr">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Center Z</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55.9590 Å</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022833"/>
                  </a:ext>
                </a:extLst>
              </a:tr>
              <a:tr h="160061">
                <a:tc>
                  <a:txBody>
                    <a:bodyPr/>
                    <a:lstStyle/>
                    <a:p>
                      <a:pPr marL="0" marR="0" algn="ctr">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Size X</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18.8373 Å</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6458624"/>
                  </a:ext>
                </a:extLst>
              </a:tr>
              <a:tr h="160061">
                <a:tc>
                  <a:txBody>
                    <a:bodyPr/>
                    <a:lstStyle/>
                    <a:p>
                      <a:pPr marL="0" marR="0" algn="ctr">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Size Y</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24.3331 Å</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1958621"/>
                  </a:ext>
                </a:extLst>
              </a:tr>
              <a:tr h="160061">
                <a:tc>
                  <a:txBody>
                    <a:bodyPr/>
                    <a:lstStyle/>
                    <a:p>
                      <a:pPr marL="0" marR="0" algn="ctr">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Size Z</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200" dirty="0">
                          <a:effectLst/>
                          <a:latin typeface="Times New Roman" panose="02020603050405020304" pitchFamily="18" charset="0"/>
                          <a:cs typeface="Times New Roman" panose="02020603050405020304" pitchFamily="18" charset="0"/>
                        </a:rPr>
                        <a:t>27.4444 Å</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4135948"/>
                  </a:ext>
                </a:extLst>
              </a:tr>
            </a:tbl>
          </a:graphicData>
        </a:graphic>
      </p:graphicFrame>
      <p:pic>
        <p:nvPicPr>
          <p:cNvPr id="7" name="Picture 6">
            <a:extLst>
              <a:ext uri="{FF2B5EF4-FFF2-40B4-BE49-F238E27FC236}">
                <a16:creationId xmlns:a16="http://schemas.microsoft.com/office/drawing/2014/main" id="{DE71C19A-7835-4040-9B14-0069744601B5}"/>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7627750" y="4004309"/>
            <a:ext cx="4419600" cy="2272030"/>
          </a:xfrm>
          <a:prstGeom prst="rect">
            <a:avLst/>
          </a:prstGeom>
          <a:effectLst>
            <a:softEdge rad="31750"/>
          </a:effectLst>
        </p:spPr>
      </p:pic>
      <p:sp>
        <p:nvSpPr>
          <p:cNvPr id="8" name="Rectangle 7">
            <a:extLst>
              <a:ext uri="{FF2B5EF4-FFF2-40B4-BE49-F238E27FC236}">
                <a16:creationId xmlns:a16="http://schemas.microsoft.com/office/drawing/2014/main" id="{B1653E91-43CA-4E1D-8EDD-D277209622C2}"/>
              </a:ext>
            </a:extLst>
          </p:cNvPr>
          <p:cNvSpPr/>
          <p:nvPr/>
        </p:nvSpPr>
        <p:spPr>
          <a:xfrm>
            <a:off x="716606" y="1001831"/>
            <a:ext cx="6839225" cy="1077218"/>
          </a:xfrm>
          <a:prstGeom prst="rect">
            <a:avLst/>
          </a:prstGeom>
        </p:spPr>
        <p:txBody>
          <a:bodyPr wrap="square">
            <a:spAutoFit/>
          </a:bodyPr>
          <a:lstStyle/>
          <a:p>
            <a:r>
              <a:rPr lang="en-US" sz="1600" dirty="0">
                <a:latin typeface="Times New Roman" panose="02020603050405020304" pitchFamily="18" charset="0"/>
                <a:ea typeface="Times New Roman" panose="02020603050405020304" pitchFamily="18" charset="0"/>
                <a:cs typeface="Times New Roman" panose="02020603050405020304" pitchFamily="18" charset="0"/>
              </a:rPr>
              <a:t>According to a systematic analysis of KRAS-ligand interaction modes (</a:t>
            </a:r>
            <a:r>
              <a:rPr lang="en-US" sz="1600" dirty="0" err="1">
                <a:latin typeface="Times New Roman" panose="02020603050405020304" pitchFamily="18" charset="0"/>
                <a:ea typeface="Times New Roman" panose="02020603050405020304" pitchFamily="18" charset="0"/>
                <a:cs typeface="Times New Roman" panose="02020603050405020304" pitchFamily="18" charset="0"/>
              </a:rPr>
              <a:t>bioRxiv</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2023), the Switch-II pocket is formed by the following 18 residues:</a:t>
            </a:r>
            <a:br>
              <a:rPr lang="en-US" sz="1600" dirty="0">
                <a:latin typeface="Times New Roman" panose="02020603050405020304" pitchFamily="18" charset="0"/>
                <a:ea typeface="Times New Roman" panose="02020603050405020304" pitchFamily="18" charset="0"/>
                <a:cs typeface="Times New Roman" panose="02020603050405020304" pitchFamily="18" charset="0"/>
              </a:rPr>
            </a:b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Val9, Ala11, Asp12, Pro34, Thr58, Ala59, Gln61, Glu62, Tyr64, Arg68, Asp69, Met72, Asp92, His95, Tyr96, Gln99, Ile100, and Val103.</a:t>
            </a:r>
            <a:endParaRPr lang="en-US" sz="16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D6AFACB2-ABF0-4FD4-9AE0-835BF177D7E5}"/>
              </a:ext>
            </a:extLst>
          </p:cNvPr>
          <p:cNvSpPr/>
          <p:nvPr/>
        </p:nvSpPr>
        <p:spPr>
          <a:xfrm>
            <a:off x="809073" y="4387680"/>
            <a:ext cx="6096000" cy="1938992"/>
          </a:xfrm>
          <a:prstGeom prst="rect">
            <a:avLst/>
          </a:prstGeom>
        </p:spPr>
        <p:txBody>
          <a:bodyPr>
            <a:spAutoFit/>
          </a:bodyPr>
          <a:lstStyle/>
          <a:p>
            <a:r>
              <a:rPr lang="en-US" sz="2400" b="1" dirty="0">
                <a:solidFill>
                  <a:srgbClr val="602C08"/>
                </a:solidFill>
                <a:latin typeface="Times New Roman" panose="02020603050405020304" pitchFamily="18" charset="0"/>
                <a:cs typeface="Times New Roman" panose="02020603050405020304" pitchFamily="18" charset="0"/>
              </a:rPr>
              <a:t>Why Not the GTP Pocket</a:t>
            </a:r>
          </a:p>
          <a:p>
            <a:r>
              <a:rPr lang="en-US" sz="1600" i="1" dirty="0" err="1">
                <a:latin typeface="Times New Roman" panose="02020603050405020304" pitchFamily="18" charset="0"/>
                <a:cs typeface="Times New Roman" panose="02020603050405020304" pitchFamily="18" charset="0"/>
              </a:rPr>
              <a:t>Orthosteric</a:t>
            </a:r>
            <a:r>
              <a:rPr lang="en-US" sz="1600" i="1" dirty="0">
                <a:latin typeface="Times New Roman" panose="02020603050405020304" pitchFamily="18" charset="0"/>
                <a:cs typeface="Times New Roman" panose="02020603050405020304" pitchFamily="18" charset="0"/>
              </a:rPr>
              <a:t> GTP Site Excluded</a:t>
            </a:r>
            <a:endParaRPr lang="en-US" sz="16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GDP/GTP binds KRAS with extremely high (picomolar) affinity</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No small-molecule drug can realistically outcompete endogenous GTP at this site</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is why KRAS was long considered "undruggable" via the </a:t>
            </a:r>
            <a:r>
              <a:rPr lang="en-US" sz="1600" dirty="0" err="1">
                <a:latin typeface="Times New Roman" panose="02020603050405020304" pitchFamily="18" charset="0"/>
                <a:cs typeface="Times New Roman" panose="02020603050405020304" pitchFamily="18" charset="0"/>
              </a:rPr>
              <a:t>orthosteric</a:t>
            </a:r>
            <a:r>
              <a:rPr lang="en-US" sz="1600" dirty="0">
                <a:latin typeface="Times New Roman" panose="02020603050405020304" pitchFamily="18" charset="0"/>
                <a:cs typeface="Times New Roman" panose="02020603050405020304" pitchFamily="18" charset="0"/>
              </a:rPr>
              <a:t> site</a:t>
            </a:r>
          </a:p>
        </p:txBody>
      </p:sp>
      <p:sp>
        <p:nvSpPr>
          <p:cNvPr id="10" name="Rectangle 2">
            <a:extLst>
              <a:ext uri="{FF2B5EF4-FFF2-40B4-BE49-F238E27FC236}">
                <a16:creationId xmlns:a16="http://schemas.microsoft.com/office/drawing/2014/main" id="{29FC0883-A1B6-4F35-BC4B-5A5681E57103}"/>
              </a:ext>
            </a:extLst>
          </p:cNvPr>
          <p:cNvSpPr>
            <a:spLocks noChangeArrowheads="1"/>
          </p:cNvSpPr>
          <p:nvPr/>
        </p:nvSpPr>
        <p:spPr bwMode="auto">
          <a:xfrm>
            <a:off x="716606" y="919805"/>
            <a:ext cx="235962"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11" name="Rectangle 2">
            <a:extLst>
              <a:ext uri="{FF2B5EF4-FFF2-40B4-BE49-F238E27FC236}">
                <a16:creationId xmlns:a16="http://schemas.microsoft.com/office/drawing/2014/main" id="{F9EB15E0-1705-48B8-8832-324852F4B216}"/>
              </a:ext>
            </a:extLst>
          </p:cNvPr>
          <p:cNvSpPr>
            <a:spLocks noChangeArrowheads="1"/>
          </p:cNvSpPr>
          <p:nvPr/>
        </p:nvSpPr>
        <p:spPr bwMode="auto">
          <a:xfrm>
            <a:off x="869006" y="1072205"/>
            <a:ext cx="235962"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12" name="Rectangle 2">
            <a:extLst>
              <a:ext uri="{FF2B5EF4-FFF2-40B4-BE49-F238E27FC236}">
                <a16:creationId xmlns:a16="http://schemas.microsoft.com/office/drawing/2014/main" id="{ED06F57D-79F3-4213-8F0B-C91BCA59E620}"/>
              </a:ext>
            </a:extLst>
          </p:cNvPr>
          <p:cNvSpPr>
            <a:spLocks noChangeArrowheads="1"/>
          </p:cNvSpPr>
          <p:nvPr/>
        </p:nvSpPr>
        <p:spPr bwMode="auto">
          <a:xfrm>
            <a:off x="1021406" y="1224605"/>
            <a:ext cx="235962"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13" name="Rectangle 2">
            <a:extLst>
              <a:ext uri="{FF2B5EF4-FFF2-40B4-BE49-F238E27FC236}">
                <a16:creationId xmlns:a16="http://schemas.microsoft.com/office/drawing/2014/main" id="{BBEDFCD1-C8C0-4A4F-BF93-33649DC45E76}"/>
              </a:ext>
            </a:extLst>
          </p:cNvPr>
          <p:cNvSpPr>
            <a:spLocks noChangeArrowheads="1"/>
          </p:cNvSpPr>
          <p:nvPr/>
        </p:nvSpPr>
        <p:spPr bwMode="auto">
          <a:xfrm>
            <a:off x="1173806" y="1377005"/>
            <a:ext cx="235962"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15" name="Rectangle 2">
            <a:extLst>
              <a:ext uri="{FF2B5EF4-FFF2-40B4-BE49-F238E27FC236}">
                <a16:creationId xmlns:a16="http://schemas.microsoft.com/office/drawing/2014/main" id="{DDC75F61-BF0F-48C1-9FF6-8A2D908D47D3}"/>
              </a:ext>
            </a:extLst>
          </p:cNvPr>
          <p:cNvSpPr>
            <a:spLocks noChangeArrowheads="1"/>
          </p:cNvSpPr>
          <p:nvPr/>
        </p:nvSpPr>
        <p:spPr bwMode="auto">
          <a:xfrm>
            <a:off x="1478606" y="1681805"/>
            <a:ext cx="235962"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16" name="Rectangle 15">
            <a:extLst>
              <a:ext uri="{FF2B5EF4-FFF2-40B4-BE49-F238E27FC236}">
                <a16:creationId xmlns:a16="http://schemas.microsoft.com/office/drawing/2014/main" id="{9ECADD1C-519F-4A67-B844-24EC36E3E606}"/>
              </a:ext>
            </a:extLst>
          </p:cNvPr>
          <p:cNvSpPr/>
          <p:nvPr/>
        </p:nvSpPr>
        <p:spPr>
          <a:xfrm>
            <a:off x="8454213" y="3174044"/>
            <a:ext cx="2622834" cy="307777"/>
          </a:xfrm>
          <a:prstGeom prst="rect">
            <a:avLst/>
          </a:prstGeom>
        </p:spPr>
        <p:txBody>
          <a:bodyPr wrap="none">
            <a:spAutoFit/>
          </a:bodyPr>
          <a:lstStyle/>
          <a:p>
            <a:r>
              <a:rPr lang="en-US" sz="1400" i="1" dirty="0">
                <a:latin typeface="Times New Roman" panose="02020603050405020304" pitchFamily="18" charset="0"/>
                <a:cs typeface="Times New Roman" panose="02020603050405020304" pitchFamily="18" charset="0"/>
              </a:rPr>
              <a:t>Switch-II residues are highlighted</a:t>
            </a:r>
          </a:p>
        </p:txBody>
      </p:sp>
    </p:spTree>
    <p:extLst>
      <p:ext uri="{BB962C8B-B14F-4D97-AF65-F5344CB8AC3E}">
        <p14:creationId xmlns:p14="http://schemas.microsoft.com/office/powerpoint/2010/main" val="1993197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0F7416A-F700-4290-9ABE-04B5E3E5965E}"/>
              </a:ext>
            </a:extLst>
          </p:cNvPr>
          <p:cNvSpPr/>
          <p:nvPr/>
        </p:nvSpPr>
        <p:spPr>
          <a:xfrm>
            <a:off x="899794" y="550613"/>
            <a:ext cx="2699009" cy="461665"/>
          </a:xfrm>
          <a:prstGeom prst="rect">
            <a:avLst/>
          </a:prstGeom>
        </p:spPr>
        <p:txBody>
          <a:bodyPr wrap="none">
            <a:spAutoFit/>
          </a:bodyPr>
          <a:lstStyle/>
          <a:p>
            <a:r>
              <a:rPr lang="en-US" sz="2400" b="1" dirty="0">
                <a:solidFill>
                  <a:srgbClr val="602C08"/>
                </a:solidFill>
                <a:latin typeface="Times New Roman" panose="02020603050405020304" pitchFamily="18" charset="0"/>
                <a:cs typeface="Times New Roman" panose="02020603050405020304" pitchFamily="18" charset="0"/>
              </a:rPr>
              <a:t>Molecular Docking</a:t>
            </a:r>
          </a:p>
        </p:txBody>
      </p:sp>
      <p:sp>
        <p:nvSpPr>
          <p:cNvPr id="3" name="Rectangle 1">
            <a:extLst>
              <a:ext uri="{FF2B5EF4-FFF2-40B4-BE49-F238E27FC236}">
                <a16:creationId xmlns:a16="http://schemas.microsoft.com/office/drawing/2014/main" id="{BF1D2068-4619-4055-9DE7-E7F87CB92317}"/>
              </a:ext>
            </a:extLst>
          </p:cNvPr>
          <p:cNvSpPr>
            <a:spLocks noChangeArrowheads="1"/>
          </p:cNvSpPr>
          <p:nvPr/>
        </p:nvSpPr>
        <p:spPr bwMode="auto">
          <a:xfrm>
            <a:off x="899794" y="781446"/>
            <a:ext cx="2895473"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100 ligands screened.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Two independent docking runs.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Binding energies recorded.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Top candidates shortlisted </a:t>
            </a:r>
          </a:p>
        </p:txBody>
      </p:sp>
      <p:graphicFrame>
        <p:nvGraphicFramePr>
          <p:cNvPr id="4" name="Table 3">
            <a:extLst>
              <a:ext uri="{FF2B5EF4-FFF2-40B4-BE49-F238E27FC236}">
                <a16:creationId xmlns:a16="http://schemas.microsoft.com/office/drawing/2014/main" id="{C88214E4-CE39-4EBC-A64A-8DC7DF255748}"/>
              </a:ext>
            </a:extLst>
          </p:cNvPr>
          <p:cNvGraphicFramePr>
            <a:graphicFrameLocks noGrp="1"/>
          </p:cNvGraphicFramePr>
          <p:nvPr>
            <p:extLst>
              <p:ext uri="{D42A27DB-BD31-4B8C-83A1-F6EECF244321}">
                <p14:modId xmlns:p14="http://schemas.microsoft.com/office/powerpoint/2010/main" val="2361955620"/>
              </p:ext>
            </p:extLst>
          </p:nvPr>
        </p:nvGraphicFramePr>
        <p:xfrm>
          <a:off x="1828800" y="2135663"/>
          <a:ext cx="7559749" cy="4445884"/>
        </p:xfrm>
        <a:graphic>
          <a:graphicData uri="http://schemas.openxmlformats.org/drawingml/2006/table">
            <a:tbl>
              <a:tblPr firstRow="1" firstCol="1" bandRow="1">
                <a:tableStyleId>{2D5ABB26-0587-4C30-8999-92F81FD0307C}</a:tableStyleId>
              </a:tblPr>
              <a:tblGrid>
                <a:gridCol w="1796357">
                  <a:extLst>
                    <a:ext uri="{9D8B030D-6E8A-4147-A177-3AD203B41FA5}">
                      <a16:colId xmlns:a16="http://schemas.microsoft.com/office/drawing/2014/main" val="1764440713"/>
                    </a:ext>
                  </a:extLst>
                </a:gridCol>
                <a:gridCol w="1813309">
                  <a:extLst>
                    <a:ext uri="{9D8B030D-6E8A-4147-A177-3AD203B41FA5}">
                      <a16:colId xmlns:a16="http://schemas.microsoft.com/office/drawing/2014/main" val="2343779853"/>
                    </a:ext>
                  </a:extLst>
                </a:gridCol>
                <a:gridCol w="1779410">
                  <a:extLst>
                    <a:ext uri="{9D8B030D-6E8A-4147-A177-3AD203B41FA5}">
                      <a16:colId xmlns:a16="http://schemas.microsoft.com/office/drawing/2014/main" val="4193838160"/>
                    </a:ext>
                  </a:extLst>
                </a:gridCol>
                <a:gridCol w="2170673">
                  <a:extLst>
                    <a:ext uri="{9D8B030D-6E8A-4147-A177-3AD203B41FA5}">
                      <a16:colId xmlns:a16="http://schemas.microsoft.com/office/drawing/2014/main" val="2379773504"/>
                    </a:ext>
                  </a:extLst>
                </a:gridCol>
              </a:tblGrid>
              <a:tr h="487566">
                <a:tc>
                  <a:txBody>
                    <a:bodyPr/>
                    <a:lstStyle/>
                    <a:p>
                      <a:pPr marL="0" marR="0" algn="ctr">
                        <a:lnSpc>
                          <a:spcPct val="107000"/>
                        </a:lnSpc>
                        <a:spcBef>
                          <a:spcPts val="0"/>
                        </a:spcBef>
                        <a:spcAft>
                          <a:spcPts val="0"/>
                        </a:spcAft>
                      </a:pPr>
                      <a:r>
                        <a:rPr lang="en-US" sz="1400" dirty="0">
                          <a:solidFill>
                            <a:schemeClr val="bg1"/>
                          </a:solidFill>
                          <a:effectLst/>
                          <a:latin typeface="Times New Roman" panose="02020603050405020304" pitchFamily="18" charset="0"/>
                          <a:cs typeface="Times New Roman" panose="02020603050405020304" pitchFamily="18" charset="0"/>
                        </a:rPr>
                        <a:t>Ligand PubChem ID</a:t>
                      </a:r>
                      <a:endParaRPr lang="en-US" sz="1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02C08"/>
                    </a:solidFill>
                  </a:tcPr>
                </a:tc>
                <a:tc>
                  <a:txBody>
                    <a:bodyPr/>
                    <a:lstStyle/>
                    <a:p>
                      <a:pPr marL="0" marR="0" algn="ctr">
                        <a:lnSpc>
                          <a:spcPct val="107000"/>
                        </a:lnSpc>
                        <a:spcBef>
                          <a:spcPts val="0"/>
                        </a:spcBef>
                        <a:spcAft>
                          <a:spcPts val="0"/>
                        </a:spcAft>
                      </a:pPr>
                      <a:r>
                        <a:rPr lang="en-US" sz="1400" dirty="0">
                          <a:solidFill>
                            <a:schemeClr val="bg1"/>
                          </a:solidFill>
                          <a:effectLst/>
                          <a:latin typeface="Times New Roman" panose="02020603050405020304" pitchFamily="18" charset="0"/>
                          <a:cs typeface="Times New Roman" panose="02020603050405020304" pitchFamily="18" charset="0"/>
                        </a:rPr>
                        <a:t>Run 1 Affinity (kcal/mol)</a:t>
                      </a:r>
                      <a:endParaRPr lang="en-US" sz="1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02C08"/>
                    </a:solidFill>
                  </a:tcPr>
                </a:tc>
                <a:tc>
                  <a:txBody>
                    <a:bodyPr/>
                    <a:lstStyle/>
                    <a:p>
                      <a:pPr marL="0" marR="0" algn="ctr">
                        <a:lnSpc>
                          <a:spcPct val="107000"/>
                        </a:lnSpc>
                        <a:spcBef>
                          <a:spcPts val="0"/>
                        </a:spcBef>
                        <a:spcAft>
                          <a:spcPts val="0"/>
                        </a:spcAft>
                      </a:pPr>
                      <a:r>
                        <a:rPr lang="en-US" sz="1400" dirty="0">
                          <a:solidFill>
                            <a:schemeClr val="bg1"/>
                          </a:solidFill>
                          <a:effectLst/>
                          <a:latin typeface="Times New Roman" panose="02020603050405020304" pitchFamily="18" charset="0"/>
                          <a:cs typeface="Times New Roman" panose="02020603050405020304" pitchFamily="18" charset="0"/>
                        </a:rPr>
                        <a:t>Run 2 Affinity (kcal/mol)</a:t>
                      </a:r>
                      <a:endParaRPr lang="en-US" sz="1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02C08"/>
                    </a:solidFill>
                  </a:tcPr>
                </a:tc>
                <a:tc>
                  <a:txBody>
                    <a:bodyPr/>
                    <a:lstStyle/>
                    <a:p>
                      <a:pPr marL="0" marR="0" algn="ctr">
                        <a:lnSpc>
                          <a:spcPct val="107000"/>
                        </a:lnSpc>
                        <a:spcBef>
                          <a:spcPts val="0"/>
                        </a:spcBef>
                        <a:spcAft>
                          <a:spcPts val="0"/>
                        </a:spcAft>
                      </a:pPr>
                      <a:r>
                        <a:rPr lang="en-US" sz="1400" dirty="0" err="1">
                          <a:solidFill>
                            <a:schemeClr val="bg1"/>
                          </a:solidFill>
                          <a:effectLst/>
                          <a:latin typeface="Times New Roman" panose="02020603050405020304" pitchFamily="18" charset="0"/>
                          <a:cs typeface="Times New Roman" panose="02020603050405020304" pitchFamily="18" charset="0"/>
                        </a:rPr>
                        <a:t>ΔAffinity</a:t>
                      </a:r>
                      <a:endParaRPr lang="en-US" sz="1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02C08"/>
                    </a:solidFill>
                  </a:tcPr>
                </a:tc>
                <a:extLst>
                  <a:ext uri="{0D108BD9-81ED-4DB2-BD59-A6C34878D82A}">
                    <a16:rowId xmlns:a16="http://schemas.microsoft.com/office/drawing/2014/main" val="1067122879"/>
                  </a:ext>
                </a:extLst>
              </a:tr>
              <a:tr h="391643">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5321864</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-8.5</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-8.5</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0.0</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49375132"/>
                  </a:ext>
                </a:extLst>
              </a:tr>
              <a:tr h="391643">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26213324</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-8.2</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-8.3</a:t>
                      </a:r>
                      <a:endParaRPr lang="en-US"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0.1</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26083740"/>
                  </a:ext>
                </a:extLst>
              </a:tr>
              <a:tr h="391643">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25202111</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-8.1</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-8.0</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0.1</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22618607"/>
                  </a:ext>
                </a:extLst>
              </a:tr>
              <a:tr h="391643">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12302502</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-8.0</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-7.9</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0.1</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1654356"/>
                  </a:ext>
                </a:extLst>
              </a:tr>
              <a:tr h="391643">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5281670</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-7.9</a:t>
                      </a:r>
                      <a:endParaRPr lang="en-US"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-7.9</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0.0</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79797"/>
                  </a:ext>
                </a:extLst>
              </a:tr>
              <a:tr h="391643">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5281801</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-7.9</a:t>
                      </a:r>
                      <a:endParaRPr lang="en-US"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-7.9</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0.0</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36748158"/>
                  </a:ext>
                </a:extLst>
              </a:tr>
              <a:tr h="391643">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5321865</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-7.8</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-7.8</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0.0</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8179946"/>
                  </a:ext>
                </a:extLst>
              </a:tr>
              <a:tr h="391643">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5280445</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a:solidFill>
                            <a:schemeClr val="tx1"/>
                          </a:solidFill>
                          <a:effectLst/>
                          <a:latin typeface="Times New Roman" panose="02020603050405020304" pitchFamily="18" charset="0"/>
                          <a:cs typeface="Times New Roman" panose="02020603050405020304" pitchFamily="18" charset="0"/>
                        </a:rPr>
                        <a:t>-7.8</a:t>
                      </a:r>
                      <a:endParaRPr lang="en-US" sz="14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-7.9</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0.1</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4808262"/>
                  </a:ext>
                </a:extLst>
              </a:tr>
              <a:tr h="350867">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5281665</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-7.8(Not in Top 10)</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-7.9</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0.1</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54762518"/>
                  </a:ext>
                </a:extLst>
              </a:tr>
              <a:tr h="474307">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5281614</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-7.8</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cs typeface="Times New Roman" panose="02020603050405020304" pitchFamily="18" charset="0"/>
                        </a:rPr>
                        <a:t>-7.7(Not in Top 10)</a:t>
                      </a:r>
                      <a:endPar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0.1</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69957110"/>
                  </a:ext>
                </a:extLst>
              </a:tr>
            </a:tbl>
          </a:graphicData>
        </a:graphic>
      </p:graphicFrame>
    </p:spTree>
    <p:extLst>
      <p:ext uri="{BB962C8B-B14F-4D97-AF65-F5344CB8AC3E}">
        <p14:creationId xmlns:p14="http://schemas.microsoft.com/office/powerpoint/2010/main" val="3482344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76ABBE8-4FD1-42A9-936D-7A204BE68AE5}"/>
              </a:ext>
            </a:extLst>
          </p:cNvPr>
          <p:cNvSpPr/>
          <p:nvPr/>
        </p:nvSpPr>
        <p:spPr>
          <a:xfrm>
            <a:off x="876301" y="254023"/>
            <a:ext cx="3114674" cy="461665"/>
          </a:xfrm>
          <a:prstGeom prst="rect">
            <a:avLst/>
          </a:prstGeom>
        </p:spPr>
        <p:txBody>
          <a:bodyPr wrap="square">
            <a:spAutoFit/>
          </a:bodyPr>
          <a:lstStyle/>
          <a:p>
            <a:r>
              <a:rPr lang="en-US" sz="2400" b="1" dirty="0">
                <a:solidFill>
                  <a:srgbClr val="602C08"/>
                </a:solidFill>
                <a:latin typeface="Times New Roman" panose="02020603050405020304" pitchFamily="18" charset="0"/>
                <a:cs typeface="Times New Roman" panose="02020603050405020304" pitchFamily="18" charset="0"/>
              </a:rPr>
              <a:t>Interaction Analysis</a:t>
            </a:r>
          </a:p>
        </p:txBody>
      </p:sp>
      <p:sp>
        <p:nvSpPr>
          <p:cNvPr id="3" name="Rectangle 1">
            <a:extLst>
              <a:ext uri="{FF2B5EF4-FFF2-40B4-BE49-F238E27FC236}">
                <a16:creationId xmlns:a16="http://schemas.microsoft.com/office/drawing/2014/main" id="{04CA6A2A-0696-40A5-94DD-763139A059DE}"/>
              </a:ext>
            </a:extLst>
          </p:cNvPr>
          <p:cNvSpPr>
            <a:spLocks noChangeArrowheads="1"/>
          </p:cNvSpPr>
          <p:nvPr/>
        </p:nvSpPr>
        <p:spPr bwMode="auto">
          <a:xfrm>
            <a:off x="646497" y="519598"/>
            <a:ext cx="5744030"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Top  ligands visualized in </a:t>
            </a:r>
            <a:r>
              <a:rPr kumimoji="0" lang="en-US" altLang="en-US" sz="1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PyMOL</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Binding poses compared across runs.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Only 5 showed interactions with at least one Switch-II residue.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Pose reproducibility assessed. </a:t>
            </a:r>
          </a:p>
        </p:txBody>
      </p:sp>
      <p:pic>
        <p:nvPicPr>
          <p:cNvPr id="4" name="Picture 3">
            <a:extLst>
              <a:ext uri="{FF2B5EF4-FFF2-40B4-BE49-F238E27FC236}">
                <a16:creationId xmlns:a16="http://schemas.microsoft.com/office/drawing/2014/main" id="{0CAA2946-6687-43B4-9E68-A1DC18085829}"/>
              </a:ext>
            </a:extLst>
          </p:cNvPr>
          <p:cNvPicPr/>
          <p:nvPr/>
        </p:nvPicPr>
        <p:blipFill rotWithShape="1">
          <a:blip r:embed="rId2" cstate="print">
            <a:extLst>
              <a:ext uri="{28A0092B-C50C-407E-A947-70E740481C1C}">
                <a14:useLocalDpi xmlns:a14="http://schemas.microsoft.com/office/drawing/2010/main" val="0"/>
              </a:ext>
            </a:extLst>
          </a:blip>
          <a:srcRect l="14850" t="3969" r="15569" b="9871"/>
          <a:stretch/>
        </p:blipFill>
        <p:spPr bwMode="auto">
          <a:xfrm>
            <a:off x="6096000" y="833734"/>
            <a:ext cx="2521585" cy="1448435"/>
          </a:xfrm>
          <a:prstGeom prst="rect">
            <a:avLst/>
          </a:prstGeom>
          <a:ln>
            <a:noFill/>
          </a:ln>
          <a:effectLst>
            <a:softEdge rad="31750"/>
          </a:effectLst>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A3A2FC94-8A79-4F6D-8A48-5C7B692F0036}"/>
              </a:ext>
            </a:extLst>
          </p:cNvPr>
          <p:cNvPicPr/>
          <p:nvPr/>
        </p:nvPicPr>
        <p:blipFill rotWithShape="1">
          <a:blip r:embed="rId3" cstate="print">
            <a:extLst>
              <a:ext uri="{28A0092B-C50C-407E-A947-70E740481C1C}">
                <a14:useLocalDpi xmlns:a14="http://schemas.microsoft.com/office/drawing/2010/main" val="0"/>
              </a:ext>
            </a:extLst>
          </a:blip>
          <a:srcRect l="34347" b="13217"/>
          <a:stretch/>
        </p:blipFill>
        <p:spPr bwMode="auto">
          <a:xfrm>
            <a:off x="8881744" y="833734"/>
            <a:ext cx="2481580" cy="1454785"/>
          </a:xfrm>
          <a:prstGeom prst="rect">
            <a:avLst/>
          </a:prstGeom>
          <a:ln>
            <a:noFill/>
          </a:ln>
          <a:effectLst>
            <a:softEdge rad="31750"/>
          </a:effectLst>
          <a:extLst>
            <a:ext uri="{53640926-AAD7-44D8-BBD7-CCE9431645EC}">
              <a14:shadowObscured xmlns:a14="http://schemas.microsoft.com/office/drawing/2010/main"/>
            </a:ext>
          </a:extLst>
        </p:spPr>
      </p:pic>
      <p:sp>
        <p:nvSpPr>
          <p:cNvPr id="6" name="Rectangle 5">
            <a:extLst>
              <a:ext uri="{FF2B5EF4-FFF2-40B4-BE49-F238E27FC236}">
                <a16:creationId xmlns:a16="http://schemas.microsoft.com/office/drawing/2014/main" id="{09ACCE0B-5873-447A-ABC4-A139175C7D9D}"/>
              </a:ext>
            </a:extLst>
          </p:cNvPr>
          <p:cNvSpPr/>
          <p:nvPr/>
        </p:nvSpPr>
        <p:spPr>
          <a:xfrm>
            <a:off x="5971268" y="180043"/>
            <a:ext cx="5905500" cy="646331"/>
          </a:xfrm>
          <a:prstGeom prst="rect">
            <a:avLst/>
          </a:prstGeom>
        </p:spPr>
        <p:txBody>
          <a:bodyPr wrap="square">
            <a:spAutoFit/>
          </a:bodyPr>
          <a:lstStyle/>
          <a:p>
            <a:r>
              <a:rPr lang="en-US" b="1" dirty="0">
                <a:solidFill>
                  <a:srgbClr val="602C08"/>
                </a:solidFill>
                <a:latin typeface="Times New Roman" panose="02020603050405020304" pitchFamily="18" charset="0"/>
                <a:ea typeface="Times New Roman" panose="02020603050405020304" pitchFamily="18" charset="0"/>
              </a:rPr>
              <a:t>                               Ligand 5281801</a:t>
            </a:r>
            <a:br>
              <a:rPr lang="en-US" b="1" dirty="0">
                <a:solidFill>
                  <a:srgbClr val="602C08"/>
                </a:solidFill>
                <a:latin typeface="Times New Roman" panose="02020603050405020304" pitchFamily="18" charset="0"/>
                <a:ea typeface="Times New Roman" panose="02020603050405020304" pitchFamily="18" charset="0"/>
              </a:rPr>
            </a:br>
            <a:r>
              <a:rPr lang="en-US" b="1" dirty="0">
                <a:solidFill>
                  <a:srgbClr val="602C08"/>
                </a:solidFill>
                <a:latin typeface="Times New Roman" panose="02020603050405020304" pitchFamily="18" charset="0"/>
                <a:ea typeface="Times New Roman" panose="02020603050405020304" pitchFamily="18" charset="0"/>
              </a:rPr>
              <a:t>                Run 1:                                     Run 2:</a:t>
            </a:r>
            <a:endParaRPr lang="en-US" sz="2400" b="1" dirty="0">
              <a:solidFill>
                <a:srgbClr val="602C08"/>
              </a:solidFill>
              <a:effectLst/>
              <a:latin typeface="Times New Roman" panose="02020603050405020304" pitchFamily="18" charset="0"/>
              <a:ea typeface="Times New Roman" panose="02020603050405020304" pitchFamily="18" charset="0"/>
            </a:endParaRPr>
          </a:p>
        </p:txBody>
      </p:sp>
      <p:sp>
        <p:nvSpPr>
          <p:cNvPr id="7" name="Rectangle 6">
            <a:extLst>
              <a:ext uri="{FF2B5EF4-FFF2-40B4-BE49-F238E27FC236}">
                <a16:creationId xmlns:a16="http://schemas.microsoft.com/office/drawing/2014/main" id="{0A687BD8-2445-4FA5-AD07-6E7C53F916A7}"/>
              </a:ext>
            </a:extLst>
          </p:cNvPr>
          <p:cNvSpPr/>
          <p:nvPr/>
        </p:nvSpPr>
        <p:spPr>
          <a:xfrm>
            <a:off x="417747" y="2210391"/>
            <a:ext cx="4836630" cy="646331"/>
          </a:xfrm>
          <a:prstGeom prst="rect">
            <a:avLst/>
          </a:prstGeom>
        </p:spPr>
        <p:txBody>
          <a:bodyPr wrap="square">
            <a:spAutoFit/>
          </a:bodyPr>
          <a:lstStyle/>
          <a:p>
            <a:r>
              <a:rPr lang="en-US" b="1" dirty="0">
                <a:solidFill>
                  <a:srgbClr val="602C08"/>
                </a:solidFill>
                <a:latin typeface="Times New Roman" panose="02020603050405020304" pitchFamily="18" charset="0"/>
                <a:ea typeface="Times New Roman" panose="02020603050405020304" pitchFamily="18" charset="0"/>
              </a:rPr>
              <a:t>                         Ligand 5281665</a:t>
            </a:r>
            <a:br>
              <a:rPr lang="en-US" b="1" dirty="0">
                <a:solidFill>
                  <a:srgbClr val="602C08"/>
                </a:solidFill>
                <a:latin typeface="Times New Roman" panose="02020603050405020304" pitchFamily="18" charset="0"/>
                <a:ea typeface="Times New Roman" panose="02020603050405020304" pitchFamily="18" charset="0"/>
              </a:rPr>
            </a:br>
            <a:r>
              <a:rPr lang="en-US" b="1" dirty="0">
                <a:solidFill>
                  <a:srgbClr val="602C08"/>
                </a:solidFill>
                <a:latin typeface="Times New Roman" panose="02020603050405020304" pitchFamily="18" charset="0"/>
                <a:ea typeface="Times New Roman" panose="02020603050405020304" pitchFamily="18" charset="0"/>
              </a:rPr>
              <a:t>         Run 1:                                           Run 2:                                                                                                                                                   </a:t>
            </a:r>
            <a:endParaRPr lang="en-US" sz="2400" b="1" dirty="0">
              <a:solidFill>
                <a:srgbClr val="602C08"/>
              </a:solidFill>
              <a:effectLst/>
              <a:latin typeface="Times New Roman" panose="02020603050405020304" pitchFamily="18" charset="0"/>
              <a:ea typeface="Times New Roman" panose="02020603050405020304" pitchFamily="18" charset="0"/>
            </a:endParaRPr>
          </a:p>
        </p:txBody>
      </p:sp>
      <p:pic>
        <p:nvPicPr>
          <p:cNvPr id="8" name="Picture 7">
            <a:extLst>
              <a:ext uri="{FF2B5EF4-FFF2-40B4-BE49-F238E27FC236}">
                <a16:creationId xmlns:a16="http://schemas.microsoft.com/office/drawing/2014/main" id="{9CC971DE-E145-4578-98D6-C6E6E4AD8970}"/>
              </a:ext>
            </a:extLst>
          </p:cNvPr>
          <p:cNvPicPr/>
          <p:nvPr/>
        </p:nvPicPr>
        <p:blipFill rotWithShape="1">
          <a:blip r:embed="rId4" cstate="print">
            <a:extLst>
              <a:ext uri="{28A0092B-C50C-407E-A947-70E740481C1C}">
                <a14:useLocalDpi xmlns:a14="http://schemas.microsoft.com/office/drawing/2010/main" val="0"/>
              </a:ext>
            </a:extLst>
          </a:blip>
          <a:srcRect l="16637" t="1231" r="19877" b="20585"/>
          <a:stretch/>
        </p:blipFill>
        <p:spPr bwMode="auto">
          <a:xfrm>
            <a:off x="364640" y="2988253"/>
            <a:ext cx="2368935" cy="1572238"/>
          </a:xfrm>
          <a:prstGeom prst="rect">
            <a:avLst/>
          </a:prstGeom>
          <a:ln>
            <a:noFill/>
          </a:ln>
          <a:effectLst>
            <a:softEdge rad="31750"/>
          </a:effectLst>
          <a:extLst>
            <a:ext uri="{53640926-AAD7-44D8-BBD7-CCE9431645EC}">
              <a14:shadowObscured xmlns:a14="http://schemas.microsoft.com/office/drawing/2010/main"/>
            </a:ext>
          </a:extLst>
        </p:spPr>
      </p:pic>
      <p:sp>
        <p:nvSpPr>
          <p:cNvPr id="10" name="Rectangle 9">
            <a:extLst>
              <a:ext uri="{FF2B5EF4-FFF2-40B4-BE49-F238E27FC236}">
                <a16:creationId xmlns:a16="http://schemas.microsoft.com/office/drawing/2014/main" id="{A43C8124-8ACE-4552-96E1-4EFD59F3063E}"/>
              </a:ext>
            </a:extLst>
          </p:cNvPr>
          <p:cNvSpPr/>
          <p:nvPr/>
        </p:nvSpPr>
        <p:spPr>
          <a:xfrm>
            <a:off x="6131508" y="2348777"/>
            <a:ext cx="5038725" cy="646331"/>
          </a:xfrm>
          <a:prstGeom prst="rect">
            <a:avLst/>
          </a:prstGeom>
        </p:spPr>
        <p:txBody>
          <a:bodyPr wrap="square">
            <a:spAutoFit/>
          </a:bodyPr>
          <a:lstStyle/>
          <a:p>
            <a:r>
              <a:rPr lang="en-US" b="1" dirty="0">
                <a:solidFill>
                  <a:srgbClr val="602C08"/>
                </a:solidFill>
                <a:latin typeface="Times New Roman" panose="02020603050405020304" pitchFamily="18" charset="0"/>
                <a:ea typeface="Times New Roman" panose="02020603050405020304" pitchFamily="18" charset="0"/>
              </a:rPr>
              <a:t>                             Ligand 26213324</a:t>
            </a:r>
            <a:br>
              <a:rPr lang="en-US" b="1" dirty="0">
                <a:solidFill>
                  <a:srgbClr val="602C08"/>
                </a:solidFill>
                <a:latin typeface="Times New Roman" panose="02020603050405020304" pitchFamily="18" charset="0"/>
                <a:ea typeface="Times New Roman" panose="02020603050405020304" pitchFamily="18" charset="0"/>
              </a:rPr>
            </a:br>
            <a:r>
              <a:rPr lang="en-US" b="1" dirty="0">
                <a:solidFill>
                  <a:srgbClr val="602C08"/>
                </a:solidFill>
                <a:latin typeface="Times New Roman" panose="02020603050405020304" pitchFamily="18" charset="0"/>
                <a:ea typeface="Times New Roman" panose="02020603050405020304" pitchFamily="18" charset="0"/>
              </a:rPr>
              <a:t>              Run 1:                                      Run 2:                                                                          </a:t>
            </a:r>
            <a:endParaRPr lang="en-US" sz="2400" b="1" dirty="0">
              <a:solidFill>
                <a:srgbClr val="602C08"/>
              </a:solidFill>
              <a:effectLst/>
              <a:latin typeface="Times New Roman" panose="02020603050405020304" pitchFamily="18" charset="0"/>
              <a:ea typeface="Times New Roman" panose="02020603050405020304" pitchFamily="18" charset="0"/>
            </a:endParaRPr>
          </a:p>
        </p:txBody>
      </p:sp>
      <p:pic>
        <p:nvPicPr>
          <p:cNvPr id="11" name="Picture 10">
            <a:extLst>
              <a:ext uri="{FF2B5EF4-FFF2-40B4-BE49-F238E27FC236}">
                <a16:creationId xmlns:a16="http://schemas.microsoft.com/office/drawing/2014/main" id="{860F9F6B-B05D-4545-B060-1E2BE6A9B024}"/>
              </a:ext>
            </a:extLst>
          </p:cNvPr>
          <p:cNvPicPr/>
          <p:nvPr/>
        </p:nvPicPr>
        <p:blipFill rotWithShape="1">
          <a:blip r:embed="rId5" cstate="print">
            <a:extLst>
              <a:ext uri="{28A0092B-C50C-407E-A947-70E740481C1C}">
                <a14:useLocalDpi xmlns:a14="http://schemas.microsoft.com/office/drawing/2010/main" val="0"/>
              </a:ext>
            </a:extLst>
          </a:blip>
          <a:srcRect l="21783" t="2690" r="28830"/>
          <a:stretch/>
        </p:blipFill>
        <p:spPr bwMode="auto">
          <a:xfrm>
            <a:off x="6096000" y="3113505"/>
            <a:ext cx="2554870" cy="1498775"/>
          </a:xfrm>
          <a:prstGeom prst="rect">
            <a:avLst/>
          </a:prstGeom>
          <a:ln>
            <a:noFill/>
          </a:ln>
          <a:effectLst>
            <a:softEdge rad="31750"/>
          </a:effectLst>
          <a:extLst>
            <a:ext uri="{53640926-AAD7-44D8-BBD7-CCE9431645EC}">
              <a14:shadowObscured xmlns:a14="http://schemas.microsoft.com/office/drawing/2010/main"/>
            </a:ext>
          </a:extLst>
        </p:spPr>
      </p:pic>
      <p:pic>
        <p:nvPicPr>
          <p:cNvPr id="12" name="Picture 11">
            <a:extLst>
              <a:ext uri="{FF2B5EF4-FFF2-40B4-BE49-F238E27FC236}">
                <a16:creationId xmlns:a16="http://schemas.microsoft.com/office/drawing/2014/main" id="{D5984E5E-84FE-49F8-849B-1FAC665D1FEF}"/>
              </a:ext>
            </a:extLst>
          </p:cNvPr>
          <p:cNvPicPr/>
          <p:nvPr/>
        </p:nvPicPr>
        <p:blipFill rotWithShape="1">
          <a:blip r:embed="rId6" cstate="print">
            <a:extLst>
              <a:ext uri="{28A0092B-C50C-407E-A947-70E740481C1C}">
                <a14:useLocalDpi xmlns:a14="http://schemas.microsoft.com/office/drawing/2010/main" val="0"/>
              </a:ext>
            </a:extLst>
          </a:blip>
          <a:srcRect l="18222" t="-3693" r="29581" b="12062"/>
          <a:stretch/>
        </p:blipFill>
        <p:spPr bwMode="auto">
          <a:xfrm>
            <a:off x="8902661" y="2956989"/>
            <a:ext cx="2554870" cy="1572238"/>
          </a:xfrm>
          <a:prstGeom prst="rect">
            <a:avLst/>
          </a:prstGeom>
          <a:ln>
            <a:noFill/>
          </a:ln>
          <a:effectLst>
            <a:softEdge rad="31750"/>
          </a:effectLst>
          <a:extLst>
            <a:ext uri="{53640926-AAD7-44D8-BBD7-CCE9431645EC}">
              <a14:shadowObscured xmlns:a14="http://schemas.microsoft.com/office/drawing/2010/main"/>
            </a:ext>
          </a:extLst>
        </p:spPr>
      </p:pic>
      <p:sp>
        <p:nvSpPr>
          <p:cNvPr id="13" name="Rectangle 12">
            <a:extLst>
              <a:ext uri="{FF2B5EF4-FFF2-40B4-BE49-F238E27FC236}">
                <a16:creationId xmlns:a16="http://schemas.microsoft.com/office/drawing/2014/main" id="{4962D2E4-1673-4C4E-A096-F612A4CF8ABE}"/>
              </a:ext>
            </a:extLst>
          </p:cNvPr>
          <p:cNvSpPr/>
          <p:nvPr/>
        </p:nvSpPr>
        <p:spPr>
          <a:xfrm>
            <a:off x="876301" y="4560492"/>
            <a:ext cx="4967908" cy="646331"/>
          </a:xfrm>
          <a:prstGeom prst="rect">
            <a:avLst/>
          </a:prstGeom>
        </p:spPr>
        <p:txBody>
          <a:bodyPr wrap="square">
            <a:spAutoFit/>
          </a:bodyPr>
          <a:lstStyle/>
          <a:p>
            <a:r>
              <a:rPr lang="en-US" b="1" dirty="0">
                <a:latin typeface="Times New Roman" panose="02020603050405020304" pitchFamily="18" charset="0"/>
                <a:ea typeface="Times New Roman" panose="02020603050405020304" pitchFamily="18" charset="0"/>
              </a:rPr>
              <a:t>                  </a:t>
            </a:r>
            <a:r>
              <a:rPr lang="en-US" b="1" dirty="0">
                <a:solidFill>
                  <a:srgbClr val="602C08"/>
                </a:solidFill>
                <a:latin typeface="Times New Roman" panose="02020603050405020304" pitchFamily="18" charset="0"/>
                <a:ea typeface="Times New Roman" panose="02020603050405020304" pitchFamily="18" charset="0"/>
              </a:rPr>
              <a:t>Ligand 12302502 </a:t>
            </a:r>
          </a:p>
          <a:p>
            <a:r>
              <a:rPr lang="en-US" b="1" dirty="0">
                <a:solidFill>
                  <a:srgbClr val="602C08"/>
                </a:solidFill>
                <a:latin typeface="Times New Roman" panose="02020603050405020304" pitchFamily="18" charset="0"/>
                <a:ea typeface="Times New Roman" panose="02020603050405020304" pitchFamily="18" charset="0"/>
              </a:rPr>
              <a:t>Run 1:                                            Run 2:                                                                          </a:t>
            </a:r>
            <a:endParaRPr lang="en-US" sz="2400" b="1" dirty="0">
              <a:solidFill>
                <a:srgbClr val="602C08"/>
              </a:solidFill>
              <a:effectLst/>
              <a:latin typeface="Times New Roman" panose="02020603050405020304" pitchFamily="18" charset="0"/>
              <a:ea typeface="Times New Roman" panose="02020603050405020304" pitchFamily="18" charset="0"/>
            </a:endParaRPr>
          </a:p>
        </p:txBody>
      </p:sp>
      <p:pic>
        <p:nvPicPr>
          <p:cNvPr id="14" name="Picture 13">
            <a:extLst>
              <a:ext uri="{FF2B5EF4-FFF2-40B4-BE49-F238E27FC236}">
                <a16:creationId xmlns:a16="http://schemas.microsoft.com/office/drawing/2014/main" id="{627AFF62-6DD3-457E-A660-92010A13F7AB}"/>
              </a:ext>
            </a:extLst>
          </p:cNvPr>
          <p:cNvPicPr/>
          <p:nvPr/>
        </p:nvPicPr>
        <p:blipFill rotWithShape="1">
          <a:blip r:embed="rId7" cstate="print">
            <a:extLst>
              <a:ext uri="{28A0092B-C50C-407E-A947-70E740481C1C}">
                <a14:useLocalDpi xmlns:a14="http://schemas.microsoft.com/office/drawing/2010/main" val="0"/>
              </a:ext>
            </a:extLst>
          </a:blip>
          <a:srcRect l="15656" t="1936" r="27723" b="1641"/>
          <a:stretch/>
        </p:blipFill>
        <p:spPr bwMode="auto">
          <a:xfrm>
            <a:off x="269324" y="5233643"/>
            <a:ext cx="2566738" cy="1547046"/>
          </a:xfrm>
          <a:prstGeom prst="rect">
            <a:avLst/>
          </a:prstGeom>
          <a:ln>
            <a:noFill/>
          </a:ln>
          <a:effectLst>
            <a:softEdge rad="31750"/>
          </a:effectLst>
          <a:extLst>
            <a:ext uri="{53640926-AAD7-44D8-BBD7-CCE9431645EC}">
              <a14:shadowObscured xmlns:a14="http://schemas.microsoft.com/office/drawing/2010/main"/>
            </a:ext>
          </a:extLst>
        </p:spPr>
      </p:pic>
      <p:sp>
        <p:nvSpPr>
          <p:cNvPr id="17" name="Rectangle 16">
            <a:extLst>
              <a:ext uri="{FF2B5EF4-FFF2-40B4-BE49-F238E27FC236}">
                <a16:creationId xmlns:a16="http://schemas.microsoft.com/office/drawing/2014/main" id="{578E9DD4-6954-4330-B6B1-17BAD2D51C67}"/>
              </a:ext>
            </a:extLst>
          </p:cNvPr>
          <p:cNvSpPr/>
          <p:nvPr/>
        </p:nvSpPr>
        <p:spPr>
          <a:xfrm>
            <a:off x="6131508" y="4573419"/>
            <a:ext cx="5907542" cy="646331"/>
          </a:xfrm>
          <a:prstGeom prst="rect">
            <a:avLst/>
          </a:prstGeom>
        </p:spPr>
        <p:txBody>
          <a:bodyPr wrap="square">
            <a:spAutoFit/>
          </a:bodyPr>
          <a:lstStyle/>
          <a:p>
            <a:r>
              <a:rPr lang="en-US" b="1" dirty="0">
                <a:solidFill>
                  <a:srgbClr val="602C08"/>
                </a:solidFill>
                <a:latin typeface="Times New Roman" panose="02020603050405020304" pitchFamily="18" charset="0"/>
                <a:ea typeface="Times New Roman" panose="02020603050405020304" pitchFamily="18" charset="0"/>
              </a:rPr>
              <a:t>                             Ligand 5321865</a:t>
            </a:r>
            <a:br>
              <a:rPr lang="en-US" b="1" dirty="0">
                <a:solidFill>
                  <a:srgbClr val="602C08"/>
                </a:solidFill>
                <a:latin typeface="Times New Roman" panose="02020603050405020304" pitchFamily="18" charset="0"/>
                <a:ea typeface="Times New Roman" panose="02020603050405020304" pitchFamily="18" charset="0"/>
              </a:rPr>
            </a:br>
            <a:r>
              <a:rPr lang="en-US" b="1" dirty="0">
                <a:solidFill>
                  <a:srgbClr val="602C08"/>
                </a:solidFill>
                <a:latin typeface="Times New Roman" panose="02020603050405020304" pitchFamily="18" charset="0"/>
                <a:ea typeface="Times New Roman" panose="02020603050405020304" pitchFamily="18" charset="0"/>
              </a:rPr>
              <a:t>             Run 1:                                       Run 2:</a:t>
            </a:r>
            <a:endParaRPr lang="en-US" sz="2400" b="1" dirty="0">
              <a:solidFill>
                <a:srgbClr val="602C08"/>
              </a:solidFill>
              <a:effectLst/>
              <a:latin typeface="Times New Roman" panose="02020603050405020304" pitchFamily="18" charset="0"/>
              <a:ea typeface="Times New Roman" panose="02020603050405020304" pitchFamily="18" charset="0"/>
            </a:endParaRPr>
          </a:p>
        </p:txBody>
      </p:sp>
      <p:pic>
        <p:nvPicPr>
          <p:cNvPr id="18" name="Picture 17">
            <a:extLst>
              <a:ext uri="{FF2B5EF4-FFF2-40B4-BE49-F238E27FC236}">
                <a16:creationId xmlns:a16="http://schemas.microsoft.com/office/drawing/2014/main" id="{4E31C4D8-CF1F-46B4-9FC3-485924EA9459}"/>
              </a:ext>
            </a:extLst>
          </p:cNvPr>
          <p:cNvPicPr/>
          <p:nvPr/>
        </p:nvPicPr>
        <p:blipFill rotWithShape="1">
          <a:blip r:embed="rId8" cstate="print">
            <a:extLst>
              <a:ext uri="{28A0092B-C50C-407E-A947-70E740481C1C}">
                <a14:useLocalDpi xmlns:a14="http://schemas.microsoft.com/office/drawing/2010/main" val="0"/>
              </a:ext>
            </a:extLst>
          </a:blip>
          <a:srcRect l="20214" t="9182" b="13923"/>
          <a:stretch/>
        </p:blipFill>
        <p:spPr bwMode="auto">
          <a:xfrm>
            <a:off x="6096000" y="5232677"/>
            <a:ext cx="2615617" cy="1521192"/>
          </a:xfrm>
          <a:prstGeom prst="rect">
            <a:avLst/>
          </a:prstGeom>
          <a:ln>
            <a:noFill/>
          </a:ln>
          <a:effectLst>
            <a:softEdge rad="31750"/>
          </a:effectLst>
          <a:extLst>
            <a:ext uri="{53640926-AAD7-44D8-BBD7-CCE9431645EC}">
              <a14:shadowObscured xmlns:a14="http://schemas.microsoft.com/office/drawing/2010/main"/>
            </a:ext>
          </a:extLst>
        </p:spPr>
      </p:pic>
      <p:pic>
        <p:nvPicPr>
          <p:cNvPr id="19" name="Picture 18">
            <a:extLst>
              <a:ext uri="{FF2B5EF4-FFF2-40B4-BE49-F238E27FC236}">
                <a16:creationId xmlns:a16="http://schemas.microsoft.com/office/drawing/2014/main" id="{1D165CF3-E43B-4356-99E7-1A06469E3BDE}"/>
              </a:ext>
            </a:extLst>
          </p:cNvPr>
          <p:cNvPicPr/>
          <p:nvPr/>
        </p:nvPicPr>
        <p:blipFill rotWithShape="1">
          <a:blip r:embed="rId9" cstate="print">
            <a:extLst>
              <a:ext uri="{28A0092B-C50C-407E-A947-70E740481C1C}">
                <a14:useLocalDpi xmlns:a14="http://schemas.microsoft.com/office/drawing/2010/main" val="0"/>
              </a:ext>
            </a:extLst>
          </a:blip>
          <a:srcRect l="20035" t="13140" r="3201" b="-641"/>
          <a:stretch/>
        </p:blipFill>
        <p:spPr bwMode="auto">
          <a:xfrm>
            <a:off x="8924018" y="5206823"/>
            <a:ext cx="2533513" cy="1547046"/>
          </a:xfrm>
          <a:prstGeom prst="rect">
            <a:avLst/>
          </a:prstGeom>
          <a:ln>
            <a:noFill/>
          </a:ln>
          <a:effectLst>
            <a:softEdge rad="31750"/>
          </a:effectLst>
          <a:extLst>
            <a:ext uri="{53640926-AAD7-44D8-BBD7-CCE9431645EC}">
              <a14:shadowObscured xmlns:a14="http://schemas.microsoft.com/office/drawing/2010/main"/>
            </a:ext>
          </a:extLst>
        </p:spPr>
      </p:pic>
      <p:pic>
        <p:nvPicPr>
          <p:cNvPr id="21" name="Picture 20">
            <a:extLst>
              <a:ext uri="{FF2B5EF4-FFF2-40B4-BE49-F238E27FC236}">
                <a16:creationId xmlns:a16="http://schemas.microsoft.com/office/drawing/2014/main" id="{C1503868-E1AC-4491-8AAF-9DC09F66117C}"/>
              </a:ext>
            </a:extLst>
          </p:cNvPr>
          <p:cNvPicPr>
            <a:picLocks noChangeAspect="1"/>
          </p:cNvPicPr>
          <p:nvPr/>
        </p:nvPicPr>
        <p:blipFill rotWithShape="1">
          <a:blip r:embed="rId10">
            <a:extLst>
              <a:ext uri="{28A0092B-C50C-407E-A947-70E740481C1C}">
                <a14:useLocalDpi xmlns:a14="http://schemas.microsoft.com/office/drawing/2010/main" val="0"/>
              </a:ext>
            </a:extLst>
          </a:blip>
          <a:srcRect l="19392" t="10994" r="15396" b="14686"/>
          <a:stretch/>
        </p:blipFill>
        <p:spPr>
          <a:xfrm>
            <a:off x="3245236" y="3082346"/>
            <a:ext cx="2471421" cy="1530836"/>
          </a:xfrm>
          <a:prstGeom prst="rect">
            <a:avLst/>
          </a:prstGeom>
          <a:effectLst>
            <a:softEdge rad="31750"/>
          </a:effectLst>
        </p:spPr>
      </p:pic>
      <p:pic>
        <p:nvPicPr>
          <p:cNvPr id="9" name="Picture 8">
            <a:extLst>
              <a:ext uri="{FF2B5EF4-FFF2-40B4-BE49-F238E27FC236}">
                <a16:creationId xmlns:a16="http://schemas.microsoft.com/office/drawing/2014/main" id="{EE4F071A-3A8E-4243-9B06-2FC11FEA0283}"/>
              </a:ext>
            </a:extLst>
          </p:cNvPr>
          <p:cNvPicPr>
            <a:picLocks noChangeAspect="1"/>
          </p:cNvPicPr>
          <p:nvPr/>
        </p:nvPicPr>
        <p:blipFill rotWithShape="1">
          <a:blip r:embed="rId11"/>
          <a:srcRect l="30722" t="25647" r="13593" b="2889"/>
          <a:stretch/>
        </p:blipFill>
        <p:spPr>
          <a:xfrm>
            <a:off x="3048463" y="5305434"/>
            <a:ext cx="2795746" cy="1448435"/>
          </a:xfrm>
          <a:prstGeom prst="rect">
            <a:avLst/>
          </a:prstGeom>
        </p:spPr>
      </p:pic>
    </p:spTree>
    <p:extLst>
      <p:ext uri="{BB962C8B-B14F-4D97-AF65-F5344CB8AC3E}">
        <p14:creationId xmlns:p14="http://schemas.microsoft.com/office/powerpoint/2010/main" val="2908622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0D1393-E7CA-4056-821C-BA4F5DDBDB46}"/>
              </a:ext>
            </a:extLst>
          </p:cNvPr>
          <p:cNvSpPr/>
          <p:nvPr/>
        </p:nvSpPr>
        <p:spPr>
          <a:xfrm>
            <a:off x="5003186" y="352286"/>
            <a:ext cx="2743199" cy="461665"/>
          </a:xfrm>
          <a:prstGeom prst="rect">
            <a:avLst/>
          </a:prstGeom>
        </p:spPr>
        <p:txBody>
          <a:bodyPr wrap="square">
            <a:spAutoFit/>
          </a:bodyPr>
          <a:lstStyle/>
          <a:p>
            <a:r>
              <a:rPr lang="en-US" sz="2400" b="1" dirty="0">
                <a:solidFill>
                  <a:srgbClr val="602C08"/>
                </a:solidFill>
                <a:latin typeface="Times New Roman" panose="02020603050405020304" pitchFamily="18" charset="0"/>
                <a:cs typeface="Times New Roman" panose="02020603050405020304" pitchFamily="18" charset="0"/>
              </a:rPr>
              <a:t>ADMET Results</a:t>
            </a:r>
          </a:p>
        </p:txBody>
      </p:sp>
      <p:graphicFrame>
        <p:nvGraphicFramePr>
          <p:cNvPr id="5" name="Table 4">
            <a:extLst>
              <a:ext uri="{FF2B5EF4-FFF2-40B4-BE49-F238E27FC236}">
                <a16:creationId xmlns:a16="http://schemas.microsoft.com/office/drawing/2014/main" id="{622DB931-E79C-4934-91A4-8E0801D795C8}"/>
              </a:ext>
            </a:extLst>
          </p:cNvPr>
          <p:cNvGraphicFramePr>
            <a:graphicFrameLocks noGrp="1"/>
          </p:cNvGraphicFramePr>
          <p:nvPr>
            <p:extLst>
              <p:ext uri="{D42A27DB-BD31-4B8C-83A1-F6EECF244321}">
                <p14:modId xmlns:p14="http://schemas.microsoft.com/office/powerpoint/2010/main" val="1238181835"/>
              </p:ext>
            </p:extLst>
          </p:nvPr>
        </p:nvGraphicFramePr>
        <p:xfrm>
          <a:off x="1350335" y="999460"/>
          <a:ext cx="9869044" cy="5586272"/>
        </p:xfrm>
        <a:graphic>
          <a:graphicData uri="http://schemas.openxmlformats.org/drawingml/2006/table">
            <a:tbl>
              <a:tblPr firstRow="1" firstCol="1" bandRow="1">
                <a:tableStyleId>{2D5ABB26-0587-4C30-8999-92F81FD0307C}</a:tableStyleId>
              </a:tblPr>
              <a:tblGrid>
                <a:gridCol w="1654249">
                  <a:extLst>
                    <a:ext uri="{9D8B030D-6E8A-4147-A177-3AD203B41FA5}">
                      <a16:colId xmlns:a16="http://schemas.microsoft.com/office/drawing/2014/main" val="2197008946"/>
                    </a:ext>
                  </a:extLst>
                </a:gridCol>
                <a:gridCol w="1642959">
                  <a:extLst>
                    <a:ext uri="{9D8B030D-6E8A-4147-A177-3AD203B41FA5}">
                      <a16:colId xmlns:a16="http://schemas.microsoft.com/office/drawing/2014/main" val="1909220303"/>
                    </a:ext>
                  </a:extLst>
                </a:gridCol>
                <a:gridCol w="1642959">
                  <a:extLst>
                    <a:ext uri="{9D8B030D-6E8A-4147-A177-3AD203B41FA5}">
                      <a16:colId xmlns:a16="http://schemas.microsoft.com/office/drawing/2014/main" val="947855989"/>
                    </a:ext>
                  </a:extLst>
                </a:gridCol>
                <a:gridCol w="1642959">
                  <a:extLst>
                    <a:ext uri="{9D8B030D-6E8A-4147-A177-3AD203B41FA5}">
                      <a16:colId xmlns:a16="http://schemas.microsoft.com/office/drawing/2014/main" val="3373327808"/>
                    </a:ext>
                  </a:extLst>
                </a:gridCol>
                <a:gridCol w="1642959">
                  <a:extLst>
                    <a:ext uri="{9D8B030D-6E8A-4147-A177-3AD203B41FA5}">
                      <a16:colId xmlns:a16="http://schemas.microsoft.com/office/drawing/2014/main" val="2491676567"/>
                    </a:ext>
                  </a:extLst>
                </a:gridCol>
                <a:gridCol w="1642959">
                  <a:extLst>
                    <a:ext uri="{9D8B030D-6E8A-4147-A177-3AD203B41FA5}">
                      <a16:colId xmlns:a16="http://schemas.microsoft.com/office/drawing/2014/main" val="2056458229"/>
                    </a:ext>
                  </a:extLst>
                </a:gridCol>
              </a:tblGrid>
              <a:tr h="392892">
                <a:tc>
                  <a:txBody>
                    <a:bodyPr/>
                    <a:lstStyle/>
                    <a:p>
                      <a:pPr marL="0" marR="0" algn="ctr">
                        <a:lnSpc>
                          <a:spcPct val="107000"/>
                        </a:lnSpc>
                        <a:spcBef>
                          <a:spcPts val="0"/>
                        </a:spcBef>
                        <a:spcAft>
                          <a:spcPts val="0"/>
                        </a:spcAft>
                      </a:pPr>
                      <a:r>
                        <a:rPr lang="en-US" sz="1400" dirty="0">
                          <a:solidFill>
                            <a:schemeClr val="bg1"/>
                          </a:solidFill>
                          <a:effectLst/>
                        </a:rPr>
                        <a:t>Parameter</a:t>
                      </a:r>
                      <a:endParaRPr lang="en-US" sz="1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02C08"/>
                    </a:solidFill>
                  </a:tcPr>
                </a:tc>
                <a:tc>
                  <a:txBody>
                    <a:bodyPr/>
                    <a:lstStyle/>
                    <a:p>
                      <a:pPr marL="0" marR="0" algn="ctr">
                        <a:lnSpc>
                          <a:spcPct val="107000"/>
                        </a:lnSpc>
                        <a:spcBef>
                          <a:spcPts val="0"/>
                        </a:spcBef>
                        <a:spcAft>
                          <a:spcPts val="0"/>
                        </a:spcAft>
                      </a:pPr>
                      <a:r>
                        <a:rPr lang="en-US" sz="1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5321865</a:t>
                      </a: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02C08"/>
                    </a:solidFill>
                  </a:tcPr>
                </a:tc>
                <a:tc>
                  <a:txBody>
                    <a:bodyPr/>
                    <a:lstStyle/>
                    <a:p>
                      <a:pPr marL="0" marR="0" algn="ctr">
                        <a:lnSpc>
                          <a:spcPct val="107000"/>
                        </a:lnSpc>
                        <a:spcBef>
                          <a:spcPts val="0"/>
                        </a:spcBef>
                        <a:spcAft>
                          <a:spcPts val="0"/>
                        </a:spcAft>
                      </a:pPr>
                      <a:r>
                        <a:rPr lang="en-US" sz="1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26213324</a:t>
                      </a: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02C08"/>
                    </a:solidFill>
                  </a:tcPr>
                </a:tc>
                <a:tc>
                  <a:txBody>
                    <a:bodyPr/>
                    <a:lstStyle/>
                    <a:p>
                      <a:pPr marL="0" marR="0" algn="ctr">
                        <a:lnSpc>
                          <a:spcPct val="107000"/>
                        </a:lnSpc>
                        <a:spcBef>
                          <a:spcPts val="0"/>
                        </a:spcBef>
                        <a:spcAft>
                          <a:spcPts val="0"/>
                        </a:spcAft>
                      </a:pPr>
                      <a:r>
                        <a:rPr lang="en-US" sz="1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5281665</a:t>
                      </a: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02C08"/>
                    </a:solidFill>
                  </a:tcPr>
                </a:tc>
                <a:tc>
                  <a:txBody>
                    <a:bodyPr/>
                    <a:lstStyle/>
                    <a:p>
                      <a:pPr marL="0" marR="0" algn="ctr">
                        <a:lnSpc>
                          <a:spcPct val="107000"/>
                        </a:lnSpc>
                        <a:spcBef>
                          <a:spcPts val="0"/>
                        </a:spcBef>
                        <a:spcAft>
                          <a:spcPts val="0"/>
                        </a:spcAft>
                      </a:pPr>
                      <a:r>
                        <a:rPr lang="en-US" sz="1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12302502</a:t>
                      </a: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02C08"/>
                    </a:solidFill>
                  </a:tcPr>
                </a:tc>
                <a:tc>
                  <a:txBody>
                    <a:bodyPr/>
                    <a:lstStyle/>
                    <a:p>
                      <a:pPr marL="0" marR="0" algn="ctr">
                        <a:lnSpc>
                          <a:spcPct val="107000"/>
                        </a:lnSpc>
                        <a:spcBef>
                          <a:spcPts val="0"/>
                        </a:spcBef>
                        <a:spcAft>
                          <a:spcPts val="0"/>
                        </a:spcAft>
                      </a:pPr>
                      <a:r>
                        <a:rPr lang="en-US" sz="1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5281801</a:t>
                      </a: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02C08"/>
                    </a:solidFill>
                  </a:tcPr>
                </a:tc>
                <a:extLst>
                  <a:ext uri="{0D108BD9-81ED-4DB2-BD59-A6C34878D82A}">
                    <a16:rowId xmlns:a16="http://schemas.microsoft.com/office/drawing/2014/main" val="3839189906"/>
                  </a:ext>
                </a:extLst>
              </a:tr>
              <a:tr h="393233">
                <a:tc>
                  <a:txBody>
                    <a:bodyPr/>
                    <a:lstStyle/>
                    <a:p>
                      <a:pPr marL="0" marR="0" algn="ctr">
                        <a:lnSpc>
                          <a:spcPct val="107000"/>
                        </a:lnSpc>
                        <a:spcBef>
                          <a:spcPts val="0"/>
                        </a:spcBef>
                        <a:spcAft>
                          <a:spcPts val="0"/>
                        </a:spcAft>
                      </a:pPr>
                      <a:r>
                        <a:rPr lang="en-US" sz="1400" dirty="0">
                          <a:effectLst/>
                        </a:rPr>
                        <a:t>Water solubility</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-3.107</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-3.253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-3.162</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-3.452</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-3.229</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4223523"/>
                  </a:ext>
                </a:extLst>
              </a:tr>
              <a:tr h="444855">
                <a:tc>
                  <a:txBody>
                    <a:bodyPr/>
                    <a:lstStyle/>
                    <a:p>
                      <a:pPr marL="0" marR="0" algn="ctr">
                        <a:lnSpc>
                          <a:spcPct val="107000"/>
                        </a:lnSpc>
                        <a:spcBef>
                          <a:spcPts val="0"/>
                        </a:spcBef>
                        <a:spcAft>
                          <a:spcPts val="0"/>
                        </a:spcAft>
                      </a:pPr>
                      <a:r>
                        <a:rPr lang="en-US" sz="1400" dirty="0">
                          <a:effectLst/>
                        </a:rPr>
                        <a:t>Caco2 permeability</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0.151</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-0.094</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-0.296</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1.144</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-0.096</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1056561"/>
                  </a:ext>
                </a:extLst>
              </a:tr>
              <a:tr h="444855">
                <a:tc>
                  <a:txBody>
                    <a:bodyPr/>
                    <a:lstStyle/>
                    <a:p>
                      <a:pPr marL="0" marR="0" algn="ctr">
                        <a:lnSpc>
                          <a:spcPct val="107000"/>
                        </a:lnSpc>
                        <a:spcBef>
                          <a:spcPts val="0"/>
                        </a:spcBef>
                        <a:spcAft>
                          <a:spcPts val="0"/>
                        </a:spcAft>
                      </a:pPr>
                      <a:r>
                        <a:rPr lang="en-US" sz="1400" dirty="0">
                          <a:effectLst/>
                        </a:rPr>
                        <a:t>Intestinal absorption</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75.803</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74.687</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71.923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100</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80.253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7227570"/>
                  </a:ext>
                </a:extLst>
              </a:tr>
              <a:tr h="371340">
                <a:tc>
                  <a:txBody>
                    <a:bodyPr/>
                    <a:lstStyle/>
                    <a:p>
                      <a:pPr marL="0" marR="0" algn="ctr">
                        <a:lnSpc>
                          <a:spcPct val="107000"/>
                        </a:lnSpc>
                        <a:spcBef>
                          <a:spcPts val="0"/>
                        </a:spcBef>
                        <a:spcAft>
                          <a:spcPts val="0"/>
                        </a:spcAft>
                      </a:pPr>
                      <a:r>
                        <a:rPr lang="en-US" sz="1400" dirty="0">
                          <a:effectLst/>
                        </a:rPr>
                        <a:t>Fu</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0.17</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0.106</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0.171</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0.234</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0.113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0193675"/>
                  </a:ext>
                </a:extLst>
              </a:tr>
              <a:tr h="393233">
                <a:tc>
                  <a:txBody>
                    <a:bodyPr/>
                    <a:lstStyle/>
                    <a:p>
                      <a:pPr marL="0" marR="0" algn="ctr">
                        <a:lnSpc>
                          <a:spcPct val="107000"/>
                        </a:lnSpc>
                        <a:spcBef>
                          <a:spcPts val="0"/>
                        </a:spcBef>
                        <a:spcAft>
                          <a:spcPts val="0"/>
                        </a:spcAft>
                      </a:pPr>
                      <a:r>
                        <a:rPr lang="en-US" sz="1400" dirty="0">
                          <a:effectLst/>
                        </a:rPr>
                        <a:t>BBB permeability</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-0.907</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-0.827</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-1.206</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-0.4</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-0.883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9440570"/>
                  </a:ext>
                </a:extLst>
              </a:tr>
              <a:tr h="393233">
                <a:tc>
                  <a:txBody>
                    <a:bodyPr/>
                    <a:lstStyle/>
                    <a:p>
                      <a:pPr marL="0" marR="0" algn="ctr">
                        <a:lnSpc>
                          <a:spcPct val="107000"/>
                        </a:lnSpc>
                        <a:spcBef>
                          <a:spcPts val="0"/>
                        </a:spcBef>
                        <a:spcAft>
                          <a:spcPts val="0"/>
                        </a:spcAft>
                      </a:pPr>
                      <a:r>
                        <a:rPr lang="en-US" sz="1400" dirty="0">
                          <a:effectLst/>
                        </a:rPr>
                        <a:t>CYP2D6 substrate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No</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No</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No</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No</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No</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6873718"/>
                  </a:ext>
                </a:extLst>
              </a:tr>
              <a:tr h="393233">
                <a:tc>
                  <a:txBody>
                    <a:bodyPr/>
                    <a:lstStyle/>
                    <a:p>
                      <a:pPr marL="0" marR="0" algn="ctr">
                        <a:lnSpc>
                          <a:spcPct val="107000"/>
                        </a:lnSpc>
                        <a:spcBef>
                          <a:spcPts val="0"/>
                        </a:spcBef>
                        <a:spcAft>
                          <a:spcPts val="0"/>
                        </a:spcAft>
                      </a:pPr>
                      <a:r>
                        <a:rPr lang="en-US" sz="1400" dirty="0">
                          <a:effectLst/>
                        </a:rPr>
                        <a:t>CYP3A4 substrate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No</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No</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No</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Yes</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Yes</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2294667"/>
                  </a:ext>
                </a:extLst>
              </a:tr>
              <a:tr h="393233">
                <a:tc>
                  <a:txBody>
                    <a:bodyPr/>
                    <a:lstStyle/>
                    <a:p>
                      <a:pPr marL="0" marR="0" algn="ctr">
                        <a:lnSpc>
                          <a:spcPct val="107000"/>
                        </a:lnSpc>
                        <a:spcBef>
                          <a:spcPts val="0"/>
                        </a:spcBef>
                        <a:spcAft>
                          <a:spcPts val="0"/>
                        </a:spcAft>
                      </a:pPr>
                      <a:r>
                        <a:rPr lang="en-US" sz="1400" dirty="0">
                          <a:effectLst/>
                        </a:rPr>
                        <a:t>CYP2D6 inhibitor</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No</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No</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No</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No</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No</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2070369"/>
                  </a:ext>
                </a:extLst>
              </a:tr>
              <a:tr h="393233">
                <a:tc>
                  <a:txBody>
                    <a:bodyPr/>
                    <a:lstStyle/>
                    <a:p>
                      <a:pPr marL="0" marR="0" algn="ctr">
                        <a:lnSpc>
                          <a:spcPct val="107000"/>
                        </a:lnSpc>
                        <a:spcBef>
                          <a:spcPts val="0"/>
                        </a:spcBef>
                        <a:spcAft>
                          <a:spcPts val="0"/>
                        </a:spcAft>
                      </a:pPr>
                      <a:r>
                        <a:rPr lang="en-US" sz="1400" dirty="0">
                          <a:effectLst/>
                        </a:rPr>
                        <a:t>CYP3A4 inhibitor</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No</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No</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No</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Yes</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No</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1401135"/>
                  </a:ext>
                </a:extLst>
              </a:tr>
              <a:tr h="393233">
                <a:tc>
                  <a:txBody>
                    <a:bodyPr/>
                    <a:lstStyle/>
                    <a:p>
                      <a:pPr marL="0" marR="0" algn="ctr">
                        <a:lnSpc>
                          <a:spcPct val="107000"/>
                        </a:lnSpc>
                        <a:spcBef>
                          <a:spcPts val="0"/>
                        </a:spcBef>
                        <a:spcAft>
                          <a:spcPts val="0"/>
                        </a:spcAft>
                      </a:pPr>
                      <a:r>
                        <a:rPr lang="en-US" sz="1400" dirty="0">
                          <a:effectLst/>
                        </a:rPr>
                        <a:t>Total Clearance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0.263</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0.405</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0.466</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0.466</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0.068</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0462605"/>
                  </a:ext>
                </a:extLst>
              </a:tr>
              <a:tr h="393233">
                <a:tc>
                  <a:txBody>
                    <a:bodyPr/>
                    <a:lstStyle/>
                    <a:p>
                      <a:pPr marL="0" marR="0" algn="ctr">
                        <a:lnSpc>
                          <a:spcPct val="107000"/>
                        </a:lnSpc>
                        <a:spcBef>
                          <a:spcPts val="0"/>
                        </a:spcBef>
                        <a:spcAft>
                          <a:spcPts val="0"/>
                        </a:spcAft>
                      </a:pPr>
                      <a:r>
                        <a:rPr lang="en-US" sz="1400" dirty="0">
                          <a:effectLst/>
                        </a:rPr>
                        <a:t>hERG1 inhibitor</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No</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No</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No</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No</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No</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309705"/>
                  </a:ext>
                </a:extLst>
              </a:tr>
              <a:tr h="393233">
                <a:tc>
                  <a:txBody>
                    <a:bodyPr/>
                    <a:lstStyle/>
                    <a:p>
                      <a:pPr marL="0" marR="0" algn="ctr">
                        <a:lnSpc>
                          <a:spcPct val="107000"/>
                        </a:lnSpc>
                        <a:spcBef>
                          <a:spcPts val="0"/>
                        </a:spcBef>
                        <a:spcAft>
                          <a:spcPts val="0"/>
                        </a:spcAft>
                      </a:pPr>
                      <a:r>
                        <a:rPr lang="en-US" sz="1400" dirty="0">
                          <a:effectLst/>
                        </a:rPr>
                        <a:t>hERG2 inhibitor</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No</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No</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No</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No</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No</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3530269"/>
                  </a:ext>
                </a:extLst>
              </a:tr>
              <a:tr h="393233">
                <a:tc>
                  <a:txBody>
                    <a:bodyPr/>
                    <a:lstStyle/>
                    <a:p>
                      <a:pPr marL="0" marR="0" algn="ctr">
                        <a:lnSpc>
                          <a:spcPct val="107000"/>
                        </a:lnSpc>
                        <a:spcBef>
                          <a:spcPts val="0"/>
                        </a:spcBef>
                        <a:spcAft>
                          <a:spcPts val="0"/>
                        </a:spcAft>
                      </a:pPr>
                      <a:r>
                        <a:rPr lang="en-US" sz="1400" dirty="0">
                          <a:effectLst/>
                        </a:rPr>
                        <a:t>AMES toxicity</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No</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a:effectLst/>
                        </a:rPr>
                        <a:t>No</a:t>
                      </a:r>
                      <a:endParaRPr lang="en-US"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No</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No</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dirty="0">
                          <a:effectLst/>
                        </a:rPr>
                        <a:t>No</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8142" marR="5814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8332686"/>
                  </a:ext>
                </a:extLst>
              </a:tr>
            </a:tbl>
          </a:graphicData>
        </a:graphic>
      </p:graphicFrame>
    </p:spTree>
    <p:extLst>
      <p:ext uri="{BB962C8B-B14F-4D97-AF65-F5344CB8AC3E}">
        <p14:creationId xmlns:p14="http://schemas.microsoft.com/office/powerpoint/2010/main" val="2066281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BA7B1-EC36-4C1F-B45C-588258FF7DCF}"/>
              </a:ext>
            </a:extLst>
          </p:cNvPr>
          <p:cNvSpPr/>
          <p:nvPr/>
        </p:nvSpPr>
        <p:spPr>
          <a:xfrm>
            <a:off x="752876" y="950098"/>
            <a:ext cx="4839850" cy="2800767"/>
          </a:xfrm>
          <a:prstGeom prst="rect">
            <a:avLst/>
          </a:prstGeom>
        </p:spPr>
        <p:txBody>
          <a:bodyPr wrap="square">
            <a:spAutoFit/>
          </a:bodyPr>
          <a:lstStyle/>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5321865</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Showed Switch-II interactions in both runs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Reproducible binding(best ligand)</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Passed all parameters of ADMET</a:t>
            </a:r>
          </a:p>
          <a:p>
            <a:r>
              <a:rPr lang="en-US" sz="1600" dirty="0">
                <a:latin typeface="Times New Roman" panose="02020603050405020304" pitchFamily="18" charset="0"/>
                <a:cs typeface="Times New Roman" panose="02020603050405020304" pitchFamily="18" charset="0"/>
              </a:rPr>
              <a:t>It showed interactions with switch 2 residues in both runs on the other hand the ligand </a:t>
            </a:r>
            <a:r>
              <a:rPr lang="en-US" sz="1600" dirty="0">
                <a:latin typeface="Times New Roman" panose="02020603050405020304" pitchFamily="18" charset="0"/>
                <a:ea typeface="Calibri" panose="020F0502020204030204" pitchFamily="34" charset="0"/>
                <a:cs typeface="Times New Roman" panose="02020603050405020304" pitchFamily="18" charset="0"/>
              </a:rPr>
              <a:t>5321864</a:t>
            </a:r>
          </a:p>
          <a:p>
            <a:r>
              <a:rPr lang="en-US" sz="1600" dirty="0">
                <a:latin typeface="Times New Roman" panose="02020603050405020304" pitchFamily="18" charset="0"/>
                <a:cs typeface="Times New Roman" panose="02020603050405020304" pitchFamily="18" charset="0"/>
              </a:rPr>
              <a:t>was with the lowest binding energy(-8.5 kcal/mol)in both runs but it made bond with the residue THR-58 of switch 2 pocket in just 1 run</a:t>
            </a:r>
          </a:p>
          <a:p>
            <a:r>
              <a:rPr lang="en-US" sz="1600" dirty="0">
                <a:latin typeface="Times New Roman" panose="02020603050405020304" pitchFamily="18" charset="0"/>
                <a:cs typeface="Times New Roman" panose="02020603050405020304" pitchFamily="18" charset="0"/>
              </a:rPr>
              <a:t>That is why the ligand with lowest binding affinity is                 not always the best ligand. </a:t>
            </a:r>
          </a:p>
        </p:txBody>
      </p:sp>
      <p:sp>
        <p:nvSpPr>
          <p:cNvPr id="7" name="Rectangle 6">
            <a:extLst>
              <a:ext uri="{FF2B5EF4-FFF2-40B4-BE49-F238E27FC236}">
                <a16:creationId xmlns:a16="http://schemas.microsoft.com/office/drawing/2014/main" id="{72167B9A-B30B-46E8-B3F6-A1977E27F316}"/>
              </a:ext>
            </a:extLst>
          </p:cNvPr>
          <p:cNvSpPr/>
          <p:nvPr/>
        </p:nvSpPr>
        <p:spPr>
          <a:xfrm>
            <a:off x="2393981" y="4172887"/>
            <a:ext cx="6609502" cy="369332"/>
          </a:xfrm>
          <a:prstGeom prst="rect">
            <a:avLst/>
          </a:prstGeom>
        </p:spPr>
        <p:txBody>
          <a:bodyPr wrap="none">
            <a:spAutoFit/>
          </a:bodyPr>
          <a:lstStyle/>
          <a:p>
            <a:r>
              <a:rPr lang="en-US" b="1" dirty="0">
                <a:solidFill>
                  <a:srgbClr val="602C08"/>
                </a:solidFill>
                <a:latin typeface="Times New Roman" panose="02020603050405020304" pitchFamily="18" charset="0"/>
                <a:ea typeface="Times New Roman" panose="02020603050405020304" pitchFamily="18" charset="0"/>
              </a:rPr>
              <a:t>Run 1:                                                                                         Run 2:</a:t>
            </a:r>
            <a:endParaRPr lang="en-US" dirty="0"/>
          </a:p>
        </p:txBody>
      </p:sp>
      <p:pic>
        <p:nvPicPr>
          <p:cNvPr id="9" name="Picture 8">
            <a:extLst>
              <a:ext uri="{FF2B5EF4-FFF2-40B4-BE49-F238E27FC236}">
                <a16:creationId xmlns:a16="http://schemas.microsoft.com/office/drawing/2014/main" id="{5727C16A-74B8-42BA-AB04-A89ADCD4DC2B}"/>
              </a:ext>
            </a:extLst>
          </p:cNvPr>
          <p:cNvPicPr>
            <a:picLocks noChangeAspect="1"/>
          </p:cNvPicPr>
          <p:nvPr/>
        </p:nvPicPr>
        <p:blipFill rotWithShape="1">
          <a:blip r:embed="rId2"/>
          <a:srcRect l="16494" t="5085" r="21184"/>
          <a:stretch/>
        </p:blipFill>
        <p:spPr>
          <a:xfrm>
            <a:off x="752876" y="4564804"/>
            <a:ext cx="4156254" cy="2062028"/>
          </a:xfrm>
          <a:prstGeom prst="rect">
            <a:avLst/>
          </a:prstGeom>
          <a:effectLst>
            <a:softEdge rad="31750"/>
          </a:effectLst>
        </p:spPr>
      </p:pic>
      <p:pic>
        <p:nvPicPr>
          <p:cNvPr id="10" name="Picture 9">
            <a:extLst>
              <a:ext uri="{FF2B5EF4-FFF2-40B4-BE49-F238E27FC236}">
                <a16:creationId xmlns:a16="http://schemas.microsoft.com/office/drawing/2014/main" id="{3A95AB42-E686-4436-B24E-EBCD512D488C}"/>
              </a:ext>
            </a:extLst>
          </p:cNvPr>
          <p:cNvPicPr>
            <a:picLocks noChangeAspect="1"/>
          </p:cNvPicPr>
          <p:nvPr/>
        </p:nvPicPr>
        <p:blipFill rotWithShape="1">
          <a:blip r:embed="rId3"/>
          <a:srcRect l="31602" t="6398" r="27902" b="6558"/>
          <a:stretch/>
        </p:blipFill>
        <p:spPr>
          <a:xfrm>
            <a:off x="6739654" y="4564802"/>
            <a:ext cx="4527659" cy="2062029"/>
          </a:xfrm>
          <a:prstGeom prst="rect">
            <a:avLst/>
          </a:prstGeom>
          <a:effectLst>
            <a:softEdge rad="31750"/>
          </a:effectLst>
        </p:spPr>
      </p:pic>
      <p:sp>
        <p:nvSpPr>
          <p:cNvPr id="3" name="Rectangle 2">
            <a:extLst>
              <a:ext uri="{FF2B5EF4-FFF2-40B4-BE49-F238E27FC236}">
                <a16:creationId xmlns:a16="http://schemas.microsoft.com/office/drawing/2014/main" id="{04D6738A-7FD3-4161-AE5B-D8C7440746F0}"/>
              </a:ext>
            </a:extLst>
          </p:cNvPr>
          <p:cNvSpPr/>
          <p:nvPr/>
        </p:nvSpPr>
        <p:spPr>
          <a:xfrm>
            <a:off x="883579" y="447765"/>
            <a:ext cx="3709477" cy="461665"/>
          </a:xfrm>
          <a:prstGeom prst="rect">
            <a:avLst/>
          </a:prstGeom>
        </p:spPr>
        <p:txBody>
          <a:bodyPr wrap="none">
            <a:spAutoFit/>
          </a:bodyPr>
          <a:lstStyle/>
          <a:p>
            <a:r>
              <a:rPr lang="en-US" sz="2400" b="1" dirty="0">
                <a:solidFill>
                  <a:srgbClr val="602C08"/>
                </a:solidFill>
                <a:latin typeface="Times New Roman" panose="02020603050405020304" pitchFamily="18" charset="0"/>
                <a:cs typeface="Times New Roman" panose="02020603050405020304" pitchFamily="18" charset="0"/>
              </a:rPr>
              <a:t>Best Ligand vs Top Ligand</a:t>
            </a:r>
            <a:endParaRPr lang="en-US" sz="2400" b="1" dirty="0">
              <a:solidFill>
                <a:srgbClr val="602C08"/>
              </a:solidFill>
            </a:endParaRPr>
          </a:p>
        </p:txBody>
      </p:sp>
      <p:graphicFrame>
        <p:nvGraphicFramePr>
          <p:cNvPr id="4" name="Table 3">
            <a:extLst>
              <a:ext uri="{FF2B5EF4-FFF2-40B4-BE49-F238E27FC236}">
                <a16:creationId xmlns:a16="http://schemas.microsoft.com/office/drawing/2014/main" id="{247064E6-8F2E-44FA-8AA1-7B80C8270788}"/>
              </a:ext>
            </a:extLst>
          </p:cNvPr>
          <p:cNvGraphicFramePr>
            <a:graphicFrameLocks noGrp="1"/>
          </p:cNvGraphicFramePr>
          <p:nvPr>
            <p:extLst>
              <p:ext uri="{D42A27DB-BD31-4B8C-83A1-F6EECF244321}">
                <p14:modId xmlns:p14="http://schemas.microsoft.com/office/powerpoint/2010/main" val="594181387"/>
              </p:ext>
            </p:extLst>
          </p:nvPr>
        </p:nvGraphicFramePr>
        <p:xfrm>
          <a:off x="6681379" y="972681"/>
          <a:ext cx="5103628" cy="2926013"/>
        </p:xfrm>
        <a:graphic>
          <a:graphicData uri="http://schemas.openxmlformats.org/drawingml/2006/table">
            <a:tbl>
              <a:tblPr>
                <a:tableStyleId>{2D5ABB26-0587-4C30-8999-92F81FD0307C}</a:tableStyleId>
              </a:tblPr>
              <a:tblGrid>
                <a:gridCol w="1275907">
                  <a:extLst>
                    <a:ext uri="{9D8B030D-6E8A-4147-A177-3AD203B41FA5}">
                      <a16:colId xmlns:a16="http://schemas.microsoft.com/office/drawing/2014/main" val="594587276"/>
                    </a:ext>
                  </a:extLst>
                </a:gridCol>
                <a:gridCol w="1275907">
                  <a:extLst>
                    <a:ext uri="{9D8B030D-6E8A-4147-A177-3AD203B41FA5}">
                      <a16:colId xmlns:a16="http://schemas.microsoft.com/office/drawing/2014/main" val="3739743905"/>
                    </a:ext>
                  </a:extLst>
                </a:gridCol>
                <a:gridCol w="1275907">
                  <a:extLst>
                    <a:ext uri="{9D8B030D-6E8A-4147-A177-3AD203B41FA5}">
                      <a16:colId xmlns:a16="http://schemas.microsoft.com/office/drawing/2014/main" val="4112001867"/>
                    </a:ext>
                  </a:extLst>
                </a:gridCol>
                <a:gridCol w="1275907">
                  <a:extLst>
                    <a:ext uri="{9D8B030D-6E8A-4147-A177-3AD203B41FA5}">
                      <a16:colId xmlns:a16="http://schemas.microsoft.com/office/drawing/2014/main" val="611538092"/>
                    </a:ext>
                  </a:extLst>
                </a:gridCol>
              </a:tblGrid>
              <a:tr h="445420">
                <a:tc>
                  <a:txBody>
                    <a:bodyPr/>
                    <a:lstStyle/>
                    <a:p>
                      <a:pPr algn="ctr"/>
                      <a:r>
                        <a:rPr lang="en-US" sz="1400" dirty="0">
                          <a:solidFill>
                            <a:schemeClr val="bg1"/>
                          </a:solidFill>
                          <a:latin typeface="Times New Roman" panose="02020603050405020304" pitchFamily="18" charset="0"/>
                          <a:cs typeface="Times New Roman" panose="02020603050405020304" pitchFamily="18" charset="0"/>
                        </a:rPr>
                        <a:t>Ligand PubChem 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02C08"/>
                    </a:solidFill>
                  </a:tcPr>
                </a:tc>
                <a:tc>
                  <a:txBody>
                    <a:bodyPr/>
                    <a:lstStyle/>
                    <a:p>
                      <a:pPr algn="ctr"/>
                      <a:r>
                        <a:rPr lang="en-US" sz="1400" dirty="0">
                          <a:solidFill>
                            <a:schemeClr val="bg1"/>
                          </a:solidFill>
                          <a:latin typeface="Times New Roman" panose="02020603050405020304" pitchFamily="18" charset="0"/>
                          <a:cs typeface="Times New Roman" panose="02020603050405020304" pitchFamily="18" charset="0"/>
                        </a:rPr>
                        <a:t>Caco2 Permeability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02C08"/>
                    </a:solidFill>
                  </a:tcPr>
                </a:tc>
                <a:tc>
                  <a:txBody>
                    <a:bodyPr/>
                    <a:lstStyle/>
                    <a:p>
                      <a:pPr algn="ctr"/>
                      <a:r>
                        <a:rPr lang="en-US" sz="1400" dirty="0">
                          <a:solidFill>
                            <a:schemeClr val="bg1"/>
                          </a:solidFill>
                          <a:latin typeface="Times New Roman" panose="02020603050405020304" pitchFamily="18" charset="0"/>
                          <a:cs typeface="Times New Roman" panose="02020603050405020304" pitchFamily="18" charset="0"/>
                        </a:rPr>
                        <a:t>Hepatotoxicity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02C08"/>
                    </a:solidFill>
                  </a:tcPr>
                </a:tc>
                <a:tc>
                  <a:txBody>
                    <a:bodyPr/>
                    <a:lstStyle/>
                    <a:p>
                      <a:pPr algn="ctr"/>
                      <a:r>
                        <a:rPr lang="en-US" sz="1400" dirty="0">
                          <a:solidFill>
                            <a:schemeClr val="bg1"/>
                          </a:solidFill>
                          <a:latin typeface="Times New Roman" panose="02020603050405020304" pitchFamily="18" charset="0"/>
                          <a:cs typeface="Times New Roman" panose="02020603050405020304" pitchFamily="18" charset="0"/>
                        </a:rPr>
                        <a:t>Overall ADMET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02C08"/>
                    </a:solidFill>
                  </a:tcPr>
                </a:tc>
                <a:extLst>
                  <a:ext uri="{0D108BD9-81ED-4DB2-BD59-A6C34878D82A}">
                    <a16:rowId xmlns:a16="http://schemas.microsoft.com/office/drawing/2014/main" val="596852801"/>
                  </a:ext>
                </a:extLst>
              </a:tr>
              <a:tr h="564433">
                <a:tc>
                  <a:txBody>
                    <a:bodyPr/>
                    <a:lstStyle/>
                    <a:p>
                      <a:pPr algn="ctr"/>
                      <a:r>
                        <a:rPr lang="en-US" sz="1400" dirty="0">
                          <a:latin typeface="Times New Roman" panose="02020603050405020304" pitchFamily="18" charset="0"/>
                          <a:cs typeface="Times New Roman" panose="02020603050405020304" pitchFamily="18" charset="0"/>
                        </a:rPr>
                        <a:t>5321865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latin typeface="Times New Roman" panose="02020603050405020304" pitchFamily="18" charset="0"/>
                          <a:cs typeface="Times New Roman" panose="02020603050405020304" pitchFamily="18" charset="0"/>
                        </a:rPr>
                        <a:t>0.151 (moderate)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latin typeface="Times New Roman" panose="02020603050405020304" pitchFamily="18" charset="0"/>
                          <a:cs typeface="Times New Roman" panose="02020603050405020304" pitchFamily="18" charset="0"/>
                        </a:rPr>
                        <a:t>No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latin typeface="Times New Roman" panose="02020603050405020304" pitchFamily="18" charset="0"/>
                          <a:cs typeface="Times New Roman" panose="02020603050405020304" pitchFamily="18" charset="0"/>
                        </a:rPr>
                        <a:t>Clean 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6183368"/>
                  </a:ext>
                </a:extLst>
              </a:tr>
              <a:tr h="292278">
                <a:tc>
                  <a:txBody>
                    <a:bodyPr/>
                    <a:lstStyle/>
                    <a:p>
                      <a:pPr algn="ctr"/>
                      <a:r>
                        <a:rPr lang="en-US" sz="1400" dirty="0">
                          <a:latin typeface="Times New Roman" panose="02020603050405020304" pitchFamily="18" charset="0"/>
                          <a:cs typeface="Times New Roman" panose="02020603050405020304" pitchFamily="18" charset="0"/>
                        </a:rPr>
                        <a:t>26213324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latin typeface="Times New Roman" panose="02020603050405020304" pitchFamily="18" charset="0"/>
                          <a:cs typeface="Times New Roman" panose="02020603050405020304" pitchFamily="18" charset="0"/>
                        </a:rPr>
                        <a:t>-0.094 (low)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latin typeface="Times New Roman" panose="02020603050405020304" pitchFamily="18" charset="0"/>
                          <a:cs typeface="Times New Roman" panose="02020603050405020304" pitchFamily="18" charset="0"/>
                        </a:rPr>
                        <a:t>No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latin typeface="Times New Roman" panose="02020603050405020304" pitchFamily="18" charset="0"/>
                          <a:cs typeface="Times New Roman" panose="02020603050405020304" pitchFamily="18" charset="0"/>
                        </a:rPr>
                        <a:t>Clean 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99496483"/>
                  </a:ext>
                </a:extLst>
              </a:tr>
              <a:tr h="496873">
                <a:tc>
                  <a:txBody>
                    <a:bodyPr/>
                    <a:lstStyle/>
                    <a:p>
                      <a:pPr algn="ctr"/>
                      <a:r>
                        <a:rPr lang="en-US" sz="1400" dirty="0">
                          <a:latin typeface="Times New Roman" panose="02020603050405020304" pitchFamily="18" charset="0"/>
                          <a:cs typeface="Times New Roman" panose="02020603050405020304" pitchFamily="18" charset="0"/>
                        </a:rPr>
                        <a:t>5281665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latin typeface="Times New Roman" panose="02020603050405020304" pitchFamily="18" charset="0"/>
                          <a:cs typeface="Times New Roman" panose="02020603050405020304" pitchFamily="18" charset="0"/>
                        </a:rPr>
                        <a:t>-0.296 (lowest)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latin typeface="Times New Roman" panose="02020603050405020304" pitchFamily="18" charset="0"/>
                          <a:cs typeface="Times New Roman" panose="02020603050405020304" pitchFamily="18" charset="0"/>
                        </a:rPr>
                        <a:t>No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latin typeface="Times New Roman" panose="02020603050405020304" pitchFamily="18" charset="0"/>
                          <a:cs typeface="Times New Roman" panose="02020603050405020304" pitchFamily="18" charset="0"/>
                        </a:rPr>
                        <a:t>Clean pass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87354693"/>
                  </a:ext>
                </a:extLst>
              </a:tr>
              <a:tr h="523587">
                <a:tc>
                  <a:txBody>
                    <a:bodyPr/>
                    <a:lstStyle/>
                    <a:p>
                      <a:pPr algn="ctr"/>
                      <a:r>
                        <a:rPr lang="en-US" sz="1400" dirty="0">
                          <a:latin typeface="Times New Roman" panose="02020603050405020304" pitchFamily="18" charset="0"/>
                          <a:cs typeface="Times New Roman" panose="02020603050405020304" pitchFamily="18" charset="0"/>
                        </a:rPr>
                        <a:t>12302502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latin typeface="Times New Roman" panose="02020603050405020304" pitchFamily="18" charset="0"/>
                          <a:cs typeface="Times New Roman" panose="02020603050405020304" pitchFamily="18" charset="0"/>
                        </a:rPr>
                        <a:t>1.144 (best)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latin typeface="Times New Roman" panose="02020603050405020304" pitchFamily="18" charset="0"/>
                          <a:cs typeface="Times New Roman" panose="02020603050405020304" pitchFamily="18" charset="0"/>
                        </a:rPr>
                        <a:t>Yes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latin typeface="Times New Roman" panose="02020603050405020304" pitchFamily="18" charset="0"/>
                          <a:cs typeface="Times New Roman" panose="02020603050405020304" pitchFamily="18" charset="0"/>
                        </a:rPr>
                        <a:t>Fail(</a:t>
                      </a:r>
                      <a:r>
                        <a:rPr lang="en-US" sz="1400" dirty="0" err="1">
                          <a:latin typeface="Times New Roman" panose="02020603050405020304" pitchFamily="18" charset="0"/>
                          <a:cs typeface="Times New Roman" panose="02020603050405020304" pitchFamily="18" charset="0"/>
                        </a:rPr>
                        <a:t>hepatotox</a:t>
                      </a:r>
                      <a:r>
                        <a:rPr lang="en-US" sz="1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42138411"/>
                  </a:ext>
                </a:extLst>
              </a:tr>
              <a:tr h="496873">
                <a:tc>
                  <a:txBody>
                    <a:bodyPr/>
                    <a:lstStyle/>
                    <a:p>
                      <a:pPr algn="ctr"/>
                      <a:r>
                        <a:rPr lang="en-US" sz="1400" dirty="0">
                          <a:latin typeface="Times New Roman" panose="02020603050405020304" pitchFamily="18" charset="0"/>
                          <a:cs typeface="Times New Roman" panose="02020603050405020304" pitchFamily="18" charset="0"/>
                        </a:rPr>
                        <a:t>5281801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latin typeface="Times New Roman" panose="02020603050405020304" pitchFamily="18" charset="0"/>
                          <a:cs typeface="Times New Roman" panose="02020603050405020304" pitchFamily="18" charset="0"/>
                        </a:rPr>
                        <a:t>-0.096 (low)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latin typeface="Times New Roman" panose="02020603050405020304" pitchFamily="18" charset="0"/>
                          <a:cs typeface="Times New Roman" panose="02020603050405020304" pitchFamily="18" charset="0"/>
                        </a:rPr>
                        <a:t>Yes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latin typeface="Times New Roman" panose="02020603050405020304" pitchFamily="18" charset="0"/>
                          <a:cs typeface="Times New Roman" panose="02020603050405020304" pitchFamily="18" charset="0"/>
                        </a:rPr>
                        <a:t>Fail (</a:t>
                      </a:r>
                      <a:r>
                        <a:rPr lang="en-US" sz="1400" dirty="0" err="1">
                          <a:latin typeface="Times New Roman" panose="02020603050405020304" pitchFamily="18" charset="0"/>
                          <a:cs typeface="Times New Roman" panose="02020603050405020304" pitchFamily="18" charset="0"/>
                        </a:rPr>
                        <a:t>hepatotox</a:t>
                      </a:r>
                      <a:r>
                        <a:rPr lang="en-US" sz="1400" dirty="0">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64292137"/>
                  </a:ext>
                </a:extLst>
              </a:tr>
            </a:tbl>
          </a:graphicData>
        </a:graphic>
      </p:graphicFrame>
      <p:sp>
        <p:nvSpPr>
          <p:cNvPr id="5" name="Rectangle 4">
            <a:extLst>
              <a:ext uri="{FF2B5EF4-FFF2-40B4-BE49-F238E27FC236}">
                <a16:creationId xmlns:a16="http://schemas.microsoft.com/office/drawing/2014/main" id="{65690221-DBE6-4E76-841D-551FEDCD6314}"/>
              </a:ext>
            </a:extLst>
          </p:cNvPr>
          <p:cNvSpPr/>
          <p:nvPr/>
        </p:nvSpPr>
        <p:spPr>
          <a:xfrm>
            <a:off x="7356782" y="433600"/>
            <a:ext cx="3752822" cy="461665"/>
          </a:xfrm>
          <a:prstGeom prst="rect">
            <a:avLst/>
          </a:prstGeom>
        </p:spPr>
        <p:txBody>
          <a:bodyPr wrap="none">
            <a:spAutoFit/>
          </a:bodyPr>
          <a:lstStyle/>
          <a:p>
            <a:r>
              <a:rPr lang="en-US" sz="2400" b="1" dirty="0">
                <a:solidFill>
                  <a:srgbClr val="602C08"/>
                </a:solidFill>
                <a:latin typeface="Times New Roman" panose="02020603050405020304" pitchFamily="18" charset="0"/>
                <a:cs typeface="Times New Roman" panose="02020603050405020304" pitchFamily="18" charset="0"/>
              </a:rPr>
              <a:t>ADMET Analysis Pass/Fail</a:t>
            </a:r>
          </a:p>
        </p:txBody>
      </p:sp>
      <p:sp>
        <p:nvSpPr>
          <p:cNvPr id="6" name="Rectangle 5">
            <a:extLst>
              <a:ext uri="{FF2B5EF4-FFF2-40B4-BE49-F238E27FC236}">
                <a16:creationId xmlns:a16="http://schemas.microsoft.com/office/drawing/2014/main" id="{6BA07FE3-72C3-4BDD-BCF5-D0BDE9438E67}"/>
              </a:ext>
            </a:extLst>
          </p:cNvPr>
          <p:cNvSpPr/>
          <p:nvPr/>
        </p:nvSpPr>
        <p:spPr>
          <a:xfrm>
            <a:off x="4820927" y="3898694"/>
            <a:ext cx="1755609" cy="369332"/>
          </a:xfrm>
          <a:prstGeom prst="rect">
            <a:avLst/>
          </a:prstGeom>
        </p:spPr>
        <p:txBody>
          <a:bodyPr wrap="none">
            <a:spAutoFit/>
          </a:bodyPr>
          <a:lstStyle/>
          <a:p>
            <a:r>
              <a:rPr lang="en-US" b="1" dirty="0">
                <a:solidFill>
                  <a:srgbClr val="602C08"/>
                </a:solidFill>
                <a:latin typeface="Times New Roman" panose="02020603050405020304" pitchFamily="18" charset="0"/>
                <a:cs typeface="Times New Roman" panose="02020603050405020304" pitchFamily="18" charset="0"/>
              </a:rPr>
              <a:t>Ligand 5321865</a:t>
            </a:r>
          </a:p>
        </p:txBody>
      </p:sp>
    </p:spTree>
    <p:extLst>
      <p:ext uri="{BB962C8B-B14F-4D97-AF65-F5344CB8AC3E}">
        <p14:creationId xmlns:p14="http://schemas.microsoft.com/office/powerpoint/2010/main" val="331800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03BE739-41FA-42B1-9513-B28E1A66D6B6}"/>
              </a:ext>
            </a:extLst>
          </p:cNvPr>
          <p:cNvSpPr/>
          <p:nvPr/>
        </p:nvSpPr>
        <p:spPr>
          <a:xfrm>
            <a:off x="607642" y="203030"/>
            <a:ext cx="5973580" cy="461665"/>
          </a:xfrm>
          <a:prstGeom prst="rect">
            <a:avLst/>
          </a:prstGeom>
        </p:spPr>
        <p:txBody>
          <a:bodyPr wrap="square">
            <a:spAutoFit/>
          </a:bodyPr>
          <a:lstStyle/>
          <a:p>
            <a:r>
              <a:rPr lang="en-US" sz="2400" b="1" dirty="0">
                <a:solidFill>
                  <a:srgbClr val="602C08"/>
                </a:solidFill>
                <a:latin typeface="Times New Roman" panose="02020603050405020304" pitchFamily="18" charset="0"/>
                <a:cs typeface="Times New Roman" panose="02020603050405020304" pitchFamily="18" charset="0"/>
              </a:rPr>
              <a:t>Critical Analysis: Rebutting the AI's Claim</a:t>
            </a:r>
          </a:p>
        </p:txBody>
      </p:sp>
      <p:pic>
        <p:nvPicPr>
          <p:cNvPr id="7" name="Picture 6">
            <a:extLst>
              <a:ext uri="{FF2B5EF4-FFF2-40B4-BE49-F238E27FC236}">
                <a16:creationId xmlns:a16="http://schemas.microsoft.com/office/drawing/2014/main" id="{F5429EA6-71CE-49A4-A677-A90899605D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2957" y="5515077"/>
            <a:ext cx="4302441" cy="1133374"/>
          </a:xfrm>
          <a:prstGeom prst="rect">
            <a:avLst/>
          </a:prstGeom>
          <a:effectLst>
            <a:softEdge rad="31750"/>
          </a:effectLst>
        </p:spPr>
      </p:pic>
      <p:sp>
        <p:nvSpPr>
          <p:cNvPr id="11" name="Rectangle: Rounded Corners 10">
            <a:extLst>
              <a:ext uri="{FF2B5EF4-FFF2-40B4-BE49-F238E27FC236}">
                <a16:creationId xmlns:a16="http://schemas.microsoft.com/office/drawing/2014/main" id="{B4CE9F6B-8964-4FC7-8707-9002DE4314CE}"/>
              </a:ext>
            </a:extLst>
          </p:cNvPr>
          <p:cNvSpPr/>
          <p:nvPr/>
        </p:nvSpPr>
        <p:spPr>
          <a:xfrm>
            <a:off x="662949" y="839910"/>
            <a:ext cx="10647020" cy="998285"/>
          </a:xfrm>
          <a:prstGeom prst="roundRect">
            <a:avLst/>
          </a:prstGeom>
          <a:solidFill>
            <a:srgbClr val="E4E4E4"/>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Times New Roman" panose="02020603050405020304" pitchFamily="18" charset="0"/>
                <a:cs typeface="Times New Roman" panose="02020603050405020304" pitchFamily="18" charset="0"/>
              </a:rPr>
              <a:t>KRAS G12D can be reliably docked using any standard PDB structure of KRAS, since the mutation only changes one amino acid and does not significantly affect the rest of the protein's conformation or pocket geometry.</a:t>
            </a:r>
          </a:p>
        </p:txBody>
      </p:sp>
      <p:sp>
        <p:nvSpPr>
          <p:cNvPr id="12" name="Rectangle 11">
            <a:extLst>
              <a:ext uri="{FF2B5EF4-FFF2-40B4-BE49-F238E27FC236}">
                <a16:creationId xmlns:a16="http://schemas.microsoft.com/office/drawing/2014/main" id="{12DE3A7E-878C-4D3B-9111-14F60EB67480}"/>
              </a:ext>
            </a:extLst>
          </p:cNvPr>
          <p:cNvSpPr/>
          <p:nvPr/>
        </p:nvSpPr>
        <p:spPr>
          <a:xfrm>
            <a:off x="546432" y="1874149"/>
            <a:ext cx="6096000" cy="369332"/>
          </a:xfrm>
          <a:prstGeom prst="rect">
            <a:avLst/>
          </a:prstGeom>
        </p:spPr>
        <p:txBody>
          <a:bodyPr>
            <a:spAutoFit/>
          </a:bodyPr>
          <a:lstStyle/>
          <a:p>
            <a:r>
              <a:rPr lang="en-US" b="1" dirty="0">
                <a:solidFill>
                  <a:srgbClr val="602C08"/>
                </a:solidFill>
                <a:latin typeface="Times New Roman" panose="02020603050405020304" pitchFamily="18" charset="0"/>
                <a:cs typeface="Times New Roman" panose="02020603050405020304" pitchFamily="18" charset="0"/>
              </a:rPr>
              <a:t>Claim 1: Any structure works</a:t>
            </a:r>
            <a:endParaRPr lang="en-US" dirty="0">
              <a:solidFill>
                <a:srgbClr val="602C08"/>
              </a:solidFill>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88ACF6F2-DD7C-43A6-9BE0-82A409C07A2B}"/>
              </a:ext>
            </a:extLst>
          </p:cNvPr>
          <p:cNvSpPr/>
          <p:nvPr/>
        </p:nvSpPr>
        <p:spPr>
          <a:xfrm>
            <a:off x="573666" y="3708632"/>
            <a:ext cx="5961888" cy="369332"/>
          </a:xfrm>
          <a:prstGeom prst="rect">
            <a:avLst/>
          </a:prstGeom>
        </p:spPr>
        <p:txBody>
          <a:bodyPr wrap="none">
            <a:spAutoFit/>
          </a:bodyPr>
          <a:lstStyle/>
          <a:p>
            <a:r>
              <a:rPr lang="en-US" b="1" dirty="0">
                <a:solidFill>
                  <a:srgbClr val="602C08"/>
                </a:solidFill>
                <a:latin typeface="Times New Roman" panose="02020603050405020304" pitchFamily="18" charset="0"/>
                <a:cs typeface="Times New Roman" panose="02020603050405020304" pitchFamily="18" charset="0"/>
              </a:rPr>
              <a:t>Claim 2: Mutation has no significant conformational effect</a:t>
            </a:r>
          </a:p>
        </p:txBody>
      </p:sp>
      <p:graphicFrame>
        <p:nvGraphicFramePr>
          <p:cNvPr id="16" name="Table 15">
            <a:extLst>
              <a:ext uri="{FF2B5EF4-FFF2-40B4-BE49-F238E27FC236}">
                <a16:creationId xmlns:a16="http://schemas.microsoft.com/office/drawing/2014/main" id="{E2F88FDB-89A0-4D35-AB40-9EA21017139C}"/>
              </a:ext>
            </a:extLst>
          </p:cNvPr>
          <p:cNvGraphicFramePr>
            <a:graphicFrameLocks noGrp="1"/>
          </p:cNvGraphicFramePr>
          <p:nvPr>
            <p:extLst>
              <p:ext uri="{D42A27DB-BD31-4B8C-83A1-F6EECF244321}">
                <p14:modId xmlns:p14="http://schemas.microsoft.com/office/powerpoint/2010/main" val="1231143008"/>
              </p:ext>
            </p:extLst>
          </p:nvPr>
        </p:nvGraphicFramePr>
        <p:xfrm>
          <a:off x="662949" y="4630440"/>
          <a:ext cx="5111014" cy="1354220"/>
        </p:xfrm>
        <a:graphic>
          <a:graphicData uri="http://schemas.openxmlformats.org/drawingml/2006/table">
            <a:tbl>
              <a:tblPr>
                <a:tableStyleId>{F2DE63D5-997A-4646-A377-4702673A728D}</a:tableStyleId>
              </a:tblPr>
              <a:tblGrid>
                <a:gridCol w="2098307">
                  <a:extLst>
                    <a:ext uri="{9D8B030D-6E8A-4147-A177-3AD203B41FA5}">
                      <a16:colId xmlns:a16="http://schemas.microsoft.com/office/drawing/2014/main" val="2832074004"/>
                    </a:ext>
                  </a:extLst>
                </a:gridCol>
                <a:gridCol w="1500472">
                  <a:extLst>
                    <a:ext uri="{9D8B030D-6E8A-4147-A177-3AD203B41FA5}">
                      <a16:colId xmlns:a16="http://schemas.microsoft.com/office/drawing/2014/main" val="2091771466"/>
                    </a:ext>
                  </a:extLst>
                </a:gridCol>
                <a:gridCol w="1512235">
                  <a:extLst>
                    <a:ext uri="{9D8B030D-6E8A-4147-A177-3AD203B41FA5}">
                      <a16:colId xmlns:a16="http://schemas.microsoft.com/office/drawing/2014/main" val="1051200228"/>
                    </a:ext>
                  </a:extLst>
                </a:gridCol>
              </a:tblGrid>
              <a:tr h="338555">
                <a:tc>
                  <a:txBody>
                    <a:bodyPr/>
                    <a:lstStyle/>
                    <a:p>
                      <a:pPr algn="ctr"/>
                      <a:r>
                        <a:rPr lang="en-US" sz="1400" dirty="0">
                          <a:solidFill>
                            <a:schemeClr val="bg1"/>
                          </a:solidFill>
                          <a:latin typeface="Times New Roman" panose="02020603050405020304" pitchFamily="18" charset="0"/>
                          <a:cs typeface="Times New Roman" panose="02020603050405020304" pitchFamily="18" charset="0"/>
                        </a:rPr>
                        <a:t>Region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02C08"/>
                    </a:solidFill>
                  </a:tcPr>
                </a:tc>
                <a:tc>
                  <a:txBody>
                    <a:bodyPr/>
                    <a:lstStyle/>
                    <a:p>
                      <a:pPr algn="ctr"/>
                      <a:r>
                        <a:rPr lang="en-US" sz="1400" dirty="0">
                          <a:solidFill>
                            <a:schemeClr val="bg1"/>
                          </a:solidFill>
                          <a:latin typeface="Times New Roman" panose="02020603050405020304" pitchFamily="18" charset="0"/>
                          <a:cs typeface="Times New Roman" panose="02020603050405020304" pitchFamily="18" charset="0"/>
                        </a:rPr>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02C08"/>
                    </a:solidFill>
                  </a:tcPr>
                </a:tc>
                <a:tc>
                  <a:txBody>
                    <a:bodyPr/>
                    <a:lstStyle/>
                    <a:p>
                      <a:pPr algn="ctr"/>
                      <a:r>
                        <a:rPr lang="en-US" sz="1400" dirty="0">
                          <a:solidFill>
                            <a:schemeClr val="bg1"/>
                          </a:solidFill>
                          <a:latin typeface="Times New Roman" panose="02020603050405020304" pitchFamily="18" charset="0"/>
                          <a:cs typeface="Times New Roman" panose="02020603050405020304" pitchFamily="18" charset="0"/>
                        </a:rPr>
                        <a:t>RMSD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02C08"/>
                    </a:solidFill>
                  </a:tcPr>
                </a:tc>
                <a:extLst>
                  <a:ext uri="{0D108BD9-81ED-4DB2-BD59-A6C34878D82A}">
                    <a16:rowId xmlns:a16="http://schemas.microsoft.com/office/drawing/2014/main" val="4023780098"/>
                  </a:ext>
                </a:extLst>
              </a:tr>
              <a:tr h="338555">
                <a:tc>
                  <a:txBody>
                    <a:bodyPr/>
                    <a:lstStyle/>
                    <a:p>
                      <a:pPr algn="ctr"/>
                      <a:r>
                        <a:rPr lang="en-US" sz="1400" dirty="0">
                          <a:latin typeface="Times New Roman" panose="02020603050405020304" pitchFamily="18" charset="0"/>
                          <a:cs typeface="Times New Roman" panose="02020603050405020304" pitchFamily="18" charset="0"/>
                        </a:rPr>
                        <a:t>P-loop (10–16)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C</a:t>
                      </a:r>
                      <a:r>
                        <a:rPr lang="el-GR" sz="1400" dirty="0">
                          <a:latin typeface="Times New Roman" panose="02020603050405020304" pitchFamily="18" charset="0"/>
                          <a:cs typeface="Times New Roman" panose="02020603050405020304" pitchFamily="18" charset="0"/>
                        </a:rPr>
                        <a:t>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1.963 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326114"/>
                  </a:ext>
                </a:extLst>
              </a:tr>
              <a:tr h="338555">
                <a:tc>
                  <a:txBody>
                    <a:bodyPr/>
                    <a:lstStyle/>
                    <a:p>
                      <a:pPr algn="ctr"/>
                      <a:r>
                        <a:rPr lang="en-US" sz="1400" dirty="0">
                          <a:latin typeface="Times New Roman" panose="02020603050405020304" pitchFamily="18" charset="0"/>
                          <a:cs typeface="Times New Roman" panose="02020603050405020304" pitchFamily="18" charset="0"/>
                        </a:rPr>
                        <a:t>Switch-II (60–76)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C</a:t>
                      </a:r>
                      <a:r>
                        <a:rPr lang="el-GR" sz="1400" dirty="0">
                          <a:latin typeface="Times New Roman" panose="02020603050405020304" pitchFamily="18" charset="0"/>
                          <a:cs typeface="Times New Roman" panose="02020603050405020304" pitchFamily="18" charset="0"/>
                        </a:rPr>
                        <a:t>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1.398 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1071930"/>
                  </a:ext>
                </a:extLst>
              </a:tr>
              <a:tr h="338555">
                <a:tc>
                  <a:txBody>
                    <a:bodyPr/>
                    <a:lstStyle/>
                    <a:p>
                      <a:pPr algn="ctr"/>
                      <a:r>
                        <a:rPr lang="en-US" sz="1400">
                          <a:latin typeface="Times New Roman" panose="02020603050405020304" pitchFamily="18" charset="0"/>
                          <a:cs typeface="Times New Roman" panose="02020603050405020304" pitchFamily="18" charset="0"/>
                        </a:rPr>
                        <a:t>Switch-II (60–76)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All-atom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2.07 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4851525"/>
                  </a:ext>
                </a:extLst>
              </a:tr>
            </a:tbl>
          </a:graphicData>
        </a:graphic>
      </p:graphicFrame>
      <p:sp>
        <p:nvSpPr>
          <p:cNvPr id="17" name="Rectangle 2">
            <a:extLst>
              <a:ext uri="{FF2B5EF4-FFF2-40B4-BE49-F238E27FC236}">
                <a16:creationId xmlns:a16="http://schemas.microsoft.com/office/drawing/2014/main" id="{B6C71826-6D01-4807-B976-397164461D2D}"/>
              </a:ext>
            </a:extLst>
          </p:cNvPr>
          <p:cNvSpPr>
            <a:spLocks noChangeArrowheads="1"/>
          </p:cNvSpPr>
          <p:nvPr/>
        </p:nvSpPr>
        <p:spPr bwMode="auto">
          <a:xfrm>
            <a:off x="546432" y="5786677"/>
            <a:ext cx="5418772"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Measurable deviation in regions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distal to residue 12.</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Contradicts claim of "no significant effect on rest of protein. </a:t>
            </a:r>
          </a:p>
        </p:txBody>
      </p:sp>
      <p:sp>
        <p:nvSpPr>
          <p:cNvPr id="18" name="Rectangle 17">
            <a:extLst>
              <a:ext uri="{FF2B5EF4-FFF2-40B4-BE49-F238E27FC236}">
                <a16:creationId xmlns:a16="http://schemas.microsoft.com/office/drawing/2014/main" id="{194F2C6A-2A76-4676-885B-E6104FDBD4BF}"/>
              </a:ext>
            </a:extLst>
          </p:cNvPr>
          <p:cNvSpPr/>
          <p:nvPr/>
        </p:nvSpPr>
        <p:spPr>
          <a:xfrm>
            <a:off x="561974" y="4019443"/>
            <a:ext cx="6096000" cy="584775"/>
          </a:xfrm>
          <a:prstGeom prst="rect">
            <a:avLst/>
          </a:prstGeom>
        </p:spPr>
        <p:txBody>
          <a:bodyPr>
            <a:spAutoFit/>
          </a:bodyPr>
          <a:lstStyle/>
          <a:p>
            <a:r>
              <a:rPr lang="en-US" sz="1600" dirty="0">
                <a:latin typeface="Times New Roman" panose="02020603050405020304" pitchFamily="18" charset="0"/>
                <a:cs typeface="Times New Roman" panose="02020603050405020304" pitchFamily="18" charset="0"/>
              </a:rPr>
              <a:t>Mutant model of 4OBE (Chain A) structurally aligned to wild-type 4OBE (unmutated) using </a:t>
            </a:r>
            <a:r>
              <a:rPr lang="en-US" sz="1600" dirty="0" err="1">
                <a:latin typeface="Times New Roman" panose="02020603050405020304" pitchFamily="18" charset="0"/>
                <a:cs typeface="Times New Roman" panose="02020603050405020304" pitchFamily="18" charset="0"/>
              </a:rPr>
              <a:t>ChimeraX</a:t>
            </a:r>
            <a:r>
              <a:rPr lang="en-US" sz="1600" dirty="0">
                <a:latin typeface="Times New Roman" panose="02020603050405020304" pitchFamily="18" charset="0"/>
                <a:cs typeface="Times New Roman" panose="02020603050405020304" pitchFamily="18" charset="0"/>
              </a:rPr>
              <a:t>.</a:t>
            </a:r>
          </a:p>
        </p:txBody>
      </p:sp>
      <p:pic>
        <p:nvPicPr>
          <p:cNvPr id="20" name="Picture 19">
            <a:extLst>
              <a:ext uri="{FF2B5EF4-FFF2-40B4-BE49-F238E27FC236}">
                <a16:creationId xmlns:a16="http://schemas.microsoft.com/office/drawing/2014/main" id="{999A8CC9-199A-4127-AEFB-5B40563DD0CF}"/>
              </a:ext>
            </a:extLst>
          </p:cNvPr>
          <p:cNvPicPr>
            <a:picLocks noChangeAspect="1"/>
          </p:cNvPicPr>
          <p:nvPr/>
        </p:nvPicPr>
        <p:blipFill rotWithShape="1">
          <a:blip r:embed="rId3">
            <a:extLst>
              <a:ext uri="{28A0092B-C50C-407E-A947-70E740481C1C}">
                <a14:useLocalDpi xmlns:a14="http://schemas.microsoft.com/office/drawing/2010/main" val="0"/>
              </a:ext>
            </a:extLst>
          </a:blip>
          <a:srcRect l="12814" t="9470" r="19604" b="10064"/>
          <a:stretch/>
        </p:blipFill>
        <p:spPr>
          <a:xfrm>
            <a:off x="7202958" y="3198005"/>
            <a:ext cx="4302440" cy="2109545"/>
          </a:xfrm>
          <a:prstGeom prst="rect">
            <a:avLst/>
          </a:prstGeom>
          <a:effectLst>
            <a:softEdge rad="31750"/>
          </a:effectLst>
        </p:spPr>
      </p:pic>
      <p:graphicFrame>
        <p:nvGraphicFramePr>
          <p:cNvPr id="21" name="Table 20">
            <a:extLst>
              <a:ext uri="{FF2B5EF4-FFF2-40B4-BE49-F238E27FC236}">
                <a16:creationId xmlns:a16="http://schemas.microsoft.com/office/drawing/2014/main" id="{594FA74F-75E9-4270-A143-C21091391282}"/>
              </a:ext>
            </a:extLst>
          </p:cNvPr>
          <p:cNvGraphicFramePr>
            <a:graphicFrameLocks noGrp="1"/>
          </p:cNvGraphicFramePr>
          <p:nvPr>
            <p:extLst>
              <p:ext uri="{D42A27DB-BD31-4B8C-83A1-F6EECF244321}">
                <p14:modId xmlns:p14="http://schemas.microsoft.com/office/powerpoint/2010/main" val="3588273094"/>
              </p:ext>
            </p:extLst>
          </p:nvPr>
        </p:nvGraphicFramePr>
        <p:xfrm>
          <a:off x="694443" y="2365067"/>
          <a:ext cx="4294600" cy="1196336"/>
        </p:xfrm>
        <a:graphic>
          <a:graphicData uri="http://schemas.openxmlformats.org/drawingml/2006/table">
            <a:tbl>
              <a:tblPr>
                <a:tableStyleId>{F2DE63D5-997A-4646-A377-4702673A728D}</a:tableStyleId>
              </a:tblPr>
              <a:tblGrid>
                <a:gridCol w="2352783">
                  <a:extLst>
                    <a:ext uri="{9D8B030D-6E8A-4147-A177-3AD203B41FA5}">
                      <a16:colId xmlns:a16="http://schemas.microsoft.com/office/drawing/2014/main" val="3864670369"/>
                    </a:ext>
                  </a:extLst>
                </a:gridCol>
                <a:gridCol w="1941817">
                  <a:extLst>
                    <a:ext uri="{9D8B030D-6E8A-4147-A177-3AD203B41FA5}">
                      <a16:colId xmlns:a16="http://schemas.microsoft.com/office/drawing/2014/main" val="3204355560"/>
                    </a:ext>
                  </a:extLst>
                </a:gridCol>
              </a:tblGrid>
              <a:tr h="228774">
                <a:tc>
                  <a:txBody>
                    <a:bodyPr/>
                    <a:lstStyle/>
                    <a:p>
                      <a:pPr algn="ctr"/>
                      <a:r>
                        <a:rPr lang="en-US" sz="1400" dirty="0">
                          <a:solidFill>
                            <a:schemeClr val="bg1"/>
                          </a:solidFill>
                          <a:latin typeface="Times New Roman" panose="02020603050405020304" pitchFamily="18" charset="0"/>
                          <a:cs typeface="Times New Roman" panose="02020603050405020304" pitchFamily="18" charset="0"/>
                        </a:rPr>
                        <a:t>Comparison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02C08"/>
                    </a:solidFill>
                  </a:tcPr>
                </a:tc>
                <a:tc>
                  <a:txBody>
                    <a:bodyPr/>
                    <a:lstStyle/>
                    <a:p>
                      <a:pPr algn="ctr"/>
                      <a:r>
                        <a:rPr lang="en-US" sz="1400" dirty="0">
                          <a:solidFill>
                            <a:schemeClr val="bg1"/>
                          </a:solidFill>
                          <a:latin typeface="Times New Roman" panose="02020603050405020304" pitchFamily="18" charset="0"/>
                          <a:cs typeface="Times New Roman" panose="02020603050405020304" pitchFamily="18" charset="0"/>
                        </a:rPr>
                        <a:t>RMSD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02C08"/>
                    </a:solidFill>
                  </a:tcPr>
                </a:tc>
                <a:extLst>
                  <a:ext uri="{0D108BD9-81ED-4DB2-BD59-A6C34878D82A}">
                    <a16:rowId xmlns:a16="http://schemas.microsoft.com/office/drawing/2014/main" val="3418484817"/>
                  </a:ext>
                </a:extLst>
              </a:tr>
              <a:tr h="373376">
                <a:tc>
                  <a:txBody>
                    <a:bodyPr/>
                    <a:lstStyle/>
                    <a:p>
                      <a:pPr algn="ctr"/>
                      <a:r>
                        <a:rPr lang="en-US" sz="1400" dirty="0">
                          <a:latin typeface="Times New Roman" panose="02020603050405020304" pitchFamily="18" charset="0"/>
                          <a:cs typeface="Times New Roman" panose="02020603050405020304" pitchFamily="18" charset="0"/>
                        </a:rPr>
                        <a:t>Global (4OBE vs 6VJJ)</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0.769 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196563"/>
                  </a:ext>
                </a:extLst>
              </a:tr>
              <a:tr h="373376">
                <a:tc>
                  <a:txBody>
                    <a:bodyPr/>
                    <a:lstStyle/>
                    <a:p>
                      <a:pPr algn="ctr"/>
                      <a:r>
                        <a:rPr lang="en-US" sz="1400" dirty="0">
                          <a:latin typeface="Times New Roman" panose="02020603050405020304" pitchFamily="18" charset="0"/>
                          <a:cs typeface="Times New Roman" panose="02020603050405020304" pitchFamily="18" charset="0"/>
                        </a:rPr>
                        <a:t>Switch-II region (4OBE vs 6VJJ)</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latin typeface="Times New Roman" panose="02020603050405020304" pitchFamily="18" charset="0"/>
                          <a:cs typeface="Times New Roman" panose="02020603050405020304" pitchFamily="18" charset="0"/>
                        </a:rPr>
                        <a:t>4.421 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1631432"/>
                  </a:ext>
                </a:extLst>
              </a:tr>
            </a:tbl>
          </a:graphicData>
        </a:graphic>
      </p:graphicFrame>
    </p:spTree>
    <p:extLst>
      <p:ext uri="{BB962C8B-B14F-4D97-AF65-F5344CB8AC3E}">
        <p14:creationId xmlns:p14="http://schemas.microsoft.com/office/powerpoint/2010/main" val="296862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3DDA04B-DE50-4A2C-A2BC-2A5814452392}"/>
              </a:ext>
            </a:extLst>
          </p:cNvPr>
          <p:cNvSpPr/>
          <p:nvPr/>
        </p:nvSpPr>
        <p:spPr>
          <a:xfrm>
            <a:off x="1098311" y="1180236"/>
            <a:ext cx="9625986" cy="1477328"/>
          </a:xfrm>
          <a:prstGeom prst="rect">
            <a:avLst/>
          </a:prstGeom>
        </p:spPr>
        <p:txBody>
          <a:bodyPr wrap="square">
            <a:spAutoFit/>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GDP-bound 4OBE selected for Switch-II accessibility.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High-quality KRAS G12D mutant generated.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Docking identified reproducible Switch-II binders.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MPD3_01369 selected as the most biologically relevant candidate.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ADMET supported further investigation</a:t>
            </a:r>
          </a:p>
        </p:txBody>
      </p:sp>
      <p:sp>
        <p:nvSpPr>
          <p:cNvPr id="3" name="Rectangle 2">
            <a:extLst>
              <a:ext uri="{FF2B5EF4-FFF2-40B4-BE49-F238E27FC236}">
                <a16:creationId xmlns:a16="http://schemas.microsoft.com/office/drawing/2014/main" id="{FCEB88DE-ED58-46EA-80DF-2CF9C48C2C33}"/>
              </a:ext>
            </a:extLst>
          </p:cNvPr>
          <p:cNvSpPr/>
          <p:nvPr/>
        </p:nvSpPr>
        <p:spPr>
          <a:xfrm>
            <a:off x="1098311" y="649742"/>
            <a:ext cx="1776448" cy="461665"/>
          </a:xfrm>
          <a:prstGeom prst="rect">
            <a:avLst/>
          </a:prstGeom>
        </p:spPr>
        <p:txBody>
          <a:bodyPr wrap="none">
            <a:spAutoFit/>
          </a:bodyPr>
          <a:lstStyle/>
          <a:p>
            <a:r>
              <a:rPr lang="en-US" sz="2400" b="1" dirty="0">
                <a:solidFill>
                  <a:srgbClr val="602C08"/>
                </a:solidFill>
                <a:latin typeface="Times New Roman" panose="02020603050405020304" pitchFamily="18" charset="0"/>
                <a:cs typeface="Times New Roman" panose="02020603050405020304" pitchFamily="18" charset="0"/>
              </a:rPr>
              <a:t>Conclusions</a:t>
            </a:r>
          </a:p>
        </p:txBody>
      </p:sp>
      <p:sp>
        <p:nvSpPr>
          <p:cNvPr id="4" name="Rectangle 3">
            <a:extLst>
              <a:ext uri="{FF2B5EF4-FFF2-40B4-BE49-F238E27FC236}">
                <a16:creationId xmlns:a16="http://schemas.microsoft.com/office/drawing/2014/main" id="{5AD2D8CA-E128-408A-A4BF-A04896F2388C}"/>
              </a:ext>
            </a:extLst>
          </p:cNvPr>
          <p:cNvSpPr/>
          <p:nvPr/>
        </p:nvSpPr>
        <p:spPr>
          <a:xfrm>
            <a:off x="1098311" y="3277107"/>
            <a:ext cx="9619308" cy="1846659"/>
          </a:xfrm>
          <a:prstGeom prst="rect">
            <a:avLst/>
          </a:prstGeom>
        </p:spPr>
        <p:txBody>
          <a:bodyPr wrap="square">
            <a:spAutoFit/>
          </a:bodyPr>
          <a:lstStyle/>
          <a:p>
            <a:endParaRPr lang="en-US" sz="2400" b="1" dirty="0">
              <a:solidFill>
                <a:srgbClr val="602C08"/>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t>Experimental testing</a:t>
            </a:r>
            <a:r>
              <a:rPr lang="en-US" dirty="0"/>
              <a:t> of MPD3_01369 to confirm its activity against KRAS G12D. </a:t>
            </a:r>
          </a:p>
          <a:p>
            <a:pPr>
              <a:buFont typeface="Arial" panose="020B0604020202020204" pitchFamily="34" charset="0"/>
              <a:buChar char="•"/>
            </a:pPr>
            <a:r>
              <a:rPr lang="en-US" b="1" dirty="0"/>
              <a:t>Molecular dynamics simulations</a:t>
            </a:r>
            <a:r>
              <a:rPr lang="en-US" dirty="0"/>
              <a:t> to check whether the ligand remains stable in the Switch-II pocket. </a:t>
            </a:r>
          </a:p>
          <a:p>
            <a:pPr>
              <a:buFont typeface="Arial" panose="020B0604020202020204" pitchFamily="34" charset="0"/>
              <a:buChar char="•"/>
            </a:pPr>
            <a:r>
              <a:rPr lang="en-US" b="1" dirty="0"/>
              <a:t>Compare with normal KRAS</a:t>
            </a:r>
            <a:r>
              <a:rPr lang="en-US" dirty="0"/>
              <a:t> to check whether the ligand is more selective for KRAS G12D. </a:t>
            </a:r>
          </a:p>
          <a:p>
            <a:pPr>
              <a:buFont typeface="Arial" panose="020B0604020202020204" pitchFamily="34" charset="0"/>
              <a:buChar char="•"/>
            </a:pPr>
            <a:r>
              <a:rPr lang="en-US" b="1" dirty="0"/>
              <a:t>Cell-based studies</a:t>
            </a:r>
            <a:r>
              <a:rPr lang="en-US" dirty="0"/>
              <a:t> to see whether the candidate can reduce KRAS-related cancer signaling. </a:t>
            </a:r>
          </a:p>
          <a:p>
            <a:pPr>
              <a:buFont typeface="Arial" panose="020B0604020202020204" pitchFamily="34" charset="0"/>
              <a:buChar char="•"/>
            </a:pPr>
            <a:r>
              <a:rPr lang="en-US" b="1" dirty="0"/>
              <a:t>Further ligand optimization</a:t>
            </a:r>
            <a:r>
              <a:rPr lang="en-US" dirty="0"/>
              <a:t> to improve binding and drug-like properties</a:t>
            </a:r>
          </a:p>
        </p:txBody>
      </p:sp>
      <p:sp>
        <p:nvSpPr>
          <p:cNvPr id="5" name="Rectangle 4">
            <a:extLst>
              <a:ext uri="{FF2B5EF4-FFF2-40B4-BE49-F238E27FC236}">
                <a16:creationId xmlns:a16="http://schemas.microsoft.com/office/drawing/2014/main" id="{A30B4EB3-87E5-49F9-BEE2-5F9A73237135}"/>
              </a:ext>
            </a:extLst>
          </p:cNvPr>
          <p:cNvSpPr/>
          <p:nvPr/>
        </p:nvSpPr>
        <p:spPr>
          <a:xfrm>
            <a:off x="1098311" y="3123739"/>
            <a:ext cx="2783967" cy="461665"/>
          </a:xfrm>
          <a:prstGeom prst="rect">
            <a:avLst/>
          </a:prstGeom>
        </p:spPr>
        <p:txBody>
          <a:bodyPr wrap="none">
            <a:spAutoFit/>
          </a:bodyPr>
          <a:lstStyle/>
          <a:p>
            <a:r>
              <a:rPr lang="en-US" sz="2400" b="1" dirty="0">
                <a:solidFill>
                  <a:srgbClr val="602C08"/>
                </a:solidFill>
                <a:latin typeface="Times New Roman" panose="02020603050405020304" pitchFamily="18" charset="0"/>
                <a:cs typeface="Times New Roman" panose="02020603050405020304" pitchFamily="18" charset="0"/>
              </a:rPr>
              <a:t>Future Perspectives</a:t>
            </a:r>
            <a:endParaRPr lang="en-US" sz="2400" dirty="0"/>
          </a:p>
        </p:txBody>
      </p:sp>
    </p:spTree>
    <p:extLst>
      <p:ext uri="{BB962C8B-B14F-4D97-AF65-F5344CB8AC3E}">
        <p14:creationId xmlns:p14="http://schemas.microsoft.com/office/powerpoint/2010/main" val="2088261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116D8CD-E7FE-43CB-92D1-3AE1235EA432}"/>
              </a:ext>
            </a:extLst>
          </p:cNvPr>
          <p:cNvSpPr/>
          <p:nvPr/>
        </p:nvSpPr>
        <p:spPr>
          <a:xfrm>
            <a:off x="1105655" y="1195081"/>
            <a:ext cx="1613775" cy="461665"/>
          </a:xfrm>
          <a:prstGeom prst="rect">
            <a:avLst/>
          </a:prstGeom>
        </p:spPr>
        <p:txBody>
          <a:bodyPr wrap="none">
            <a:spAutoFit/>
          </a:bodyPr>
          <a:lstStyle/>
          <a:p>
            <a:r>
              <a:rPr lang="en-US" sz="2400" b="1" dirty="0">
                <a:solidFill>
                  <a:srgbClr val="602C08"/>
                </a:solidFill>
                <a:latin typeface="Times New Roman" panose="02020603050405020304" pitchFamily="18" charset="0"/>
                <a:cs typeface="Times New Roman" panose="02020603050405020304" pitchFamily="18" charset="0"/>
              </a:rPr>
              <a:t>References</a:t>
            </a:r>
          </a:p>
        </p:txBody>
      </p:sp>
      <p:sp>
        <p:nvSpPr>
          <p:cNvPr id="3" name="Rectangle 1">
            <a:extLst>
              <a:ext uri="{FF2B5EF4-FFF2-40B4-BE49-F238E27FC236}">
                <a16:creationId xmlns:a16="http://schemas.microsoft.com/office/drawing/2014/main" id="{DEB13C09-8228-42B7-B11C-2C3585D8B278}"/>
              </a:ext>
            </a:extLst>
          </p:cNvPr>
          <p:cNvSpPr>
            <a:spLocks noChangeArrowheads="1"/>
          </p:cNvSpPr>
          <p:nvPr/>
        </p:nvSpPr>
        <p:spPr bwMode="auto">
          <a:xfrm>
            <a:off x="755787" y="1521992"/>
            <a:ext cx="10983564"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14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400" dirty="0" err="1">
                <a:latin typeface="Times New Roman" panose="02020603050405020304" pitchFamily="18" charset="0"/>
                <a:cs typeface="Times New Roman" panose="02020603050405020304" pitchFamily="18" charset="0"/>
              </a:rPr>
              <a:t>Vatansever</a:t>
            </a:r>
            <a:r>
              <a:rPr lang="en-US" sz="1400" dirty="0">
                <a:latin typeface="Times New Roman" panose="02020603050405020304" pitchFamily="18" charset="0"/>
                <a:cs typeface="Times New Roman" panose="02020603050405020304" pitchFamily="18" charset="0"/>
              </a:rPr>
              <a:t>, S., et al. (2020). Crystal Structure of GDP-bound Human </a:t>
            </a:r>
            <a:r>
              <a:rPr lang="en-US" sz="1400" dirty="0" err="1">
                <a:latin typeface="Times New Roman" panose="02020603050405020304" pitchFamily="18" charset="0"/>
                <a:cs typeface="Times New Roman" panose="02020603050405020304" pitchFamily="18" charset="0"/>
              </a:rPr>
              <a:t>KRas</a:t>
            </a:r>
            <a:r>
              <a:rPr lang="en-US" sz="1400" dirty="0">
                <a:latin typeface="Times New Roman" panose="02020603050405020304" pitchFamily="18" charset="0"/>
                <a:cs typeface="Times New Roman" panose="02020603050405020304" pitchFamily="18" charset="0"/>
              </a:rPr>
              <a:t>. </a:t>
            </a:r>
            <a:r>
              <a:rPr lang="en-US" sz="1400" i="1" dirty="0">
                <a:latin typeface="Times New Roman" panose="02020603050405020304" pitchFamily="18" charset="0"/>
                <a:cs typeface="Times New Roman" panose="02020603050405020304" pitchFamily="18" charset="0"/>
              </a:rPr>
              <a:t>PDB ID: 4OBE</a:t>
            </a:r>
            <a:r>
              <a:rPr lang="en-US" sz="1400" dirty="0">
                <a:latin typeface="Times New Roman" panose="02020603050405020304" pitchFamily="18" charset="0"/>
                <a:cs typeface="Times New Roman" panose="02020603050405020304" pitchFamily="18" charset="0"/>
              </a:rPr>
              <a:t>. RCSB Protein Data Bank. </a:t>
            </a:r>
            <a:r>
              <a:rPr lang="en-US" sz="1400" dirty="0">
                <a:latin typeface="Times New Roman" panose="02020603050405020304" pitchFamily="18" charset="0"/>
                <a:cs typeface="Times New Roman" panose="02020603050405020304" pitchFamily="18" charset="0"/>
                <a:hlinkClick r:id="rId2"/>
              </a:rPr>
              <a:t>https://doi.org/10.2210/pdb4OBE/pdb</a:t>
            </a:r>
            <a:endParaRPr lang="en-US" sz="14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RCSB PDB. Crystal Structure of wild-type KRAS4b (GMPPNP-bound) in complex with RAS-binding domain (RBD) of RAF1/CRAF. </a:t>
            </a:r>
            <a:r>
              <a:rPr lang="en-US" sz="1400" i="1" dirty="0">
                <a:latin typeface="Times New Roman" panose="02020603050405020304" pitchFamily="18" charset="0"/>
                <a:cs typeface="Times New Roman" panose="02020603050405020304" pitchFamily="18" charset="0"/>
              </a:rPr>
              <a:t>PDB ID: 6VJJ</a:t>
            </a:r>
            <a:r>
              <a:rPr lang="en-US"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hlinkClick r:id="rId3"/>
              </a:rPr>
              <a:t>https://doi.org/10.2210/pdb6VJJ/pdb</a:t>
            </a:r>
            <a:endParaRPr lang="en-US" sz="14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Pettersen, E. F., et al. (2021). UCSF </a:t>
            </a:r>
            <a:r>
              <a:rPr lang="en-US" sz="1400" dirty="0" err="1">
                <a:latin typeface="Times New Roman" panose="02020603050405020304" pitchFamily="18" charset="0"/>
                <a:cs typeface="Times New Roman" panose="02020603050405020304" pitchFamily="18" charset="0"/>
              </a:rPr>
              <a:t>ChimeraX</a:t>
            </a:r>
            <a:r>
              <a:rPr lang="en-US" sz="1400" dirty="0">
                <a:latin typeface="Times New Roman" panose="02020603050405020304" pitchFamily="18" charset="0"/>
                <a:cs typeface="Times New Roman" panose="02020603050405020304" pitchFamily="18" charset="0"/>
              </a:rPr>
              <a:t>: Structure visualization for researchers, educators, and developers. </a:t>
            </a:r>
            <a:r>
              <a:rPr lang="en-US" sz="1400" i="1" dirty="0">
                <a:latin typeface="Times New Roman" panose="02020603050405020304" pitchFamily="18" charset="0"/>
                <a:cs typeface="Times New Roman" panose="02020603050405020304" pitchFamily="18" charset="0"/>
              </a:rPr>
              <a:t>Protein Science</a:t>
            </a:r>
            <a:r>
              <a:rPr lang="en-US" sz="1400" dirty="0">
                <a:latin typeface="Times New Roman" panose="02020603050405020304" pitchFamily="18" charset="0"/>
                <a:cs typeface="Times New Roman" panose="02020603050405020304" pitchFamily="18" charset="0"/>
              </a:rPr>
              <a:t>, 30(1), 70–82.</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Trott, O., &amp; Olson, A. J. (2010). </a:t>
            </a:r>
            <a:r>
              <a:rPr lang="en-US" sz="1400" dirty="0" err="1">
                <a:latin typeface="Times New Roman" panose="02020603050405020304" pitchFamily="18" charset="0"/>
                <a:cs typeface="Times New Roman" panose="02020603050405020304" pitchFamily="18" charset="0"/>
              </a:rPr>
              <a:t>AutoDock</a:t>
            </a:r>
            <a:r>
              <a:rPr lang="en-US" sz="1400" dirty="0">
                <a:latin typeface="Times New Roman" panose="02020603050405020304" pitchFamily="18" charset="0"/>
                <a:cs typeface="Times New Roman" panose="02020603050405020304" pitchFamily="18" charset="0"/>
              </a:rPr>
              <a:t> Vina: Improving the speed and accuracy of docking with a new scoring function, efficient optimization, and multithreading. </a:t>
            </a:r>
            <a:r>
              <a:rPr lang="en-US" sz="1400" i="1" dirty="0">
                <a:latin typeface="Times New Roman" panose="02020603050405020304" pitchFamily="18" charset="0"/>
                <a:cs typeface="Times New Roman" panose="02020603050405020304" pitchFamily="18" charset="0"/>
              </a:rPr>
              <a:t>Journal of Computational Chemistry</a:t>
            </a:r>
            <a:r>
              <a:rPr lang="en-US" sz="1400" dirty="0">
                <a:latin typeface="Times New Roman" panose="02020603050405020304" pitchFamily="18" charset="0"/>
                <a:cs typeface="Times New Roman" panose="02020603050405020304" pitchFamily="18" charset="0"/>
              </a:rPr>
              <a:t>, 31(2), 455–461.</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O'Boyle, N. M., et al. (2011). Open Babel: An open chemical toolbox. </a:t>
            </a:r>
            <a:r>
              <a:rPr lang="en-US" sz="1400" i="1" dirty="0">
                <a:latin typeface="Times New Roman" panose="02020603050405020304" pitchFamily="18" charset="0"/>
                <a:cs typeface="Times New Roman" panose="02020603050405020304" pitchFamily="18" charset="0"/>
              </a:rPr>
              <a:t>Journal of Cheminformatics</a:t>
            </a:r>
            <a:r>
              <a:rPr lang="en-US" sz="1400" dirty="0">
                <a:latin typeface="Times New Roman" panose="02020603050405020304" pitchFamily="18" charset="0"/>
                <a:cs typeface="Times New Roman" panose="02020603050405020304" pitchFamily="18" charset="0"/>
              </a:rPr>
              <a:t>, 3, 33.</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Williams, C. J., et al. (2018). </a:t>
            </a:r>
            <a:r>
              <a:rPr lang="en-US" sz="1400" dirty="0" err="1">
                <a:latin typeface="Times New Roman" panose="02020603050405020304" pitchFamily="18" charset="0"/>
                <a:cs typeface="Times New Roman" panose="02020603050405020304" pitchFamily="18" charset="0"/>
              </a:rPr>
              <a:t>MolProbity</a:t>
            </a:r>
            <a:r>
              <a:rPr lang="en-US" sz="1400" dirty="0">
                <a:latin typeface="Times New Roman" panose="02020603050405020304" pitchFamily="18" charset="0"/>
                <a:cs typeface="Times New Roman" panose="02020603050405020304" pitchFamily="18" charset="0"/>
              </a:rPr>
              <a:t>: More and better reference data for improved all-atom structure validation. </a:t>
            </a:r>
            <a:r>
              <a:rPr lang="en-US" sz="1400" i="1" dirty="0">
                <a:latin typeface="Times New Roman" panose="02020603050405020304" pitchFamily="18" charset="0"/>
                <a:cs typeface="Times New Roman" panose="02020603050405020304" pitchFamily="18" charset="0"/>
              </a:rPr>
              <a:t>Protein Science</a:t>
            </a:r>
            <a:r>
              <a:rPr lang="en-US" sz="1400" dirty="0">
                <a:latin typeface="Times New Roman" panose="02020603050405020304" pitchFamily="18" charset="0"/>
                <a:cs typeface="Times New Roman" panose="02020603050405020304" pitchFamily="18" charset="0"/>
              </a:rPr>
              <a:t>, 27(1), 293–315.</a:t>
            </a:r>
          </a:p>
          <a:p>
            <a:pPr marL="342900" indent="-342900">
              <a:buFont typeface="+mj-lt"/>
              <a:buAutoNum type="arabicPeriod"/>
            </a:pPr>
            <a:r>
              <a:rPr lang="en-US" sz="1400" dirty="0" err="1">
                <a:latin typeface="Times New Roman" panose="02020603050405020304" pitchFamily="18" charset="0"/>
                <a:cs typeface="Times New Roman" panose="02020603050405020304" pitchFamily="18" charset="0"/>
              </a:rPr>
              <a:t>Daina</a:t>
            </a:r>
            <a:r>
              <a:rPr lang="en-US" sz="1400" dirty="0">
                <a:latin typeface="Times New Roman" panose="02020603050405020304" pitchFamily="18" charset="0"/>
                <a:cs typeface="Times New Roman" panose="02020603050405020304" pitchFamily="18" charset="0"/>
              </a:rPr>
              <a:t>, A., </a:t>
            </a:r>
            <a:r>
              <a:rPr lang="en-US" sz="1400" dirty="0" err="1">
                <a:latin typeface="Times New Roman" panose="02020603050405020304" pitchFamily="18" charset="0"/>
                <a:cs typeface="Times New Roman" panose="02020603050405020304" pitchFamily="18" charset="0"/>
              </a:rPr>
              <a:t>Michielin</a:t>
            </a:r>
            <a:r>
              <a:rPr lang="en-US" sz="1400" dirty="0">
                <a:latin typeface="Times New Roman" panose="02020603050405020304" pitchFamily="18" charset="0"/>
                <a:cs typeface="Times New Roman" panose="02020603050405020304" pitchFamily="18" charset="0"/>
              </a:rPr>
              <a:t>, O., &amp; </a:t>
            </a:r>
            <a:r>
              <a:rPr lang="en-US" sz="1400" dirty="0" err="1">
                <a:latin typeface="Times New Roman" panose="02020603050405020304" pitchFamily="18" charset="0"/>
                <a:cs typeface="Times New Roman" panose="02020603050405020304" pitchFamily="18" charset="0"/>
              </a:rPr>
              <a:t>Zoete</a:t>
            </a:r>
            <a:r>
              <a:rPr lang="en-US" sz="1400" dirty="0">
                <a:latin typeface="Times New Roman" panose="02020603050405020304" pitchFamily="18" charset="0"/>
                <a:cs typeface="Times New Roman" panose="02020603050405020304" pitchFamily="18" charset="0"/>
              </a:rPr>
              <a:t>, V. (2017). </a:t>
            </a:r>
            <a:r>
              <a:rPr lang="en-US" sz="1400" dirty="0" err="1">
                <a:latin typeface="Times New Roman" panose="02020603050405020304" pitchFamily="18" charset="0"/>
                <a:cs typeface="Times New Roman" panose="02020603050405020304" pitchFamily="18" charset="0"/>
              </a:rPr>
              <a:t>SwissADME</a:t>
            </a:r>
            <a:r>
              <a:rPr lang="en-US" sz="1400" dirty="0">
                <a:latin typeface="Times New Roman" panose="02020603050405020304" pitchFamily="18" charset="0"/>
                <a:cs typeface="Times New Roman" panose="02020603050405020304" pitchFamily="18" charset="0"/>
              </a:rPr>
              <a:t>: A free web tool to evaluate pharmacokinetics, drug-likeness and medicinal chemistry friendliness of small molecules. </a:t>
            </a:r>
            <a:r>
              <a:rPr lang="en-US" sz="1400" i="1" dirty="0">
                <a:latin typeface="Times New Roman" panose="02020603050405020304" pitchFamily="18" charset="0"/>
                <a:cs typeface="Times New Roman" panose="02020603050405020304" pitchFamily="18" charset="0"/>
              </a:rPr>
              <a:t>Scientific Reports</a:t>
            </a:r>
            <a:r>
              <a:rPr lang="en-US" sz="1400" dirty="0">
                <a:latin typeface="Times New Roman" panose="02020603050405020304" pitchFamily="18" charset="0"/>
                <a:cs typeface="Times New Roman" panose="02020603050405020304" pitchFamily="18" charset="0"/>
              </a:rPr>
              <a:t>, 7, 42717.</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Cox, A. D., </a:t>
            </a:r>
            <a:r>
              <a:rPr lang="en-US" sz="1400" dirty="0" err="1">
                <a:latin typeface="Times New Roman" panose="02020603050405020304" pitchFamily="18" charset="0"/>
                <a:cs typeface="Times New Roman" panose="02020603050405020304" pitchFamily="18" charset="0"/>
              </a:rPr>
              <a:t>Fesik</a:t>
            </a:r>
            <a:r>
              <a:rPr lang="en-US" sz="1400" dirty="0">
                <a:latin typeface="Times New Roman" panose="02020603050405020304" pitchFamily="18" charset="0"/>
                <a:cs typeface="Times New Roman" panose="02020603050405020304" pitchFamily="18" charset="0"/>
              </a:rPr>
              <a:t>, S. W., Kimmelman, A. C., Luo, J., &amp; Der, C. J. (2014). Drugging the undruggable RAS: Mission possible? </a:t>
            </a:r>
            <a:r>
              <a:rPr lang="en-US" sz="1400" i="1" dirty="0">
                <a:latin typeface="Times New Roman" panose="02020603050405020304" pitchFamily="18" charset="0"/>
                <a:cs typeface="Times New Roman" panose="02020603050405020304" pitchFamily="18" charset="0"/>
              </a:rPr>
              <a:t>Nature Reviews Drug Discovery</a:t>
            </a:r>
            <a:r>
              <a:rPr lang="en-US" sz="1400" dirty="0">
                <a:latin typeface="Times New Roman" panose="02020603050405020304" pitchFamily="18" charset="0"/>
                <a:cs typeface="Times New Roman" panose="02020603050405020304" pitchFamily="18" charset="0"/>
              </a:rPr>
              <a:t>, 13(11), 828–851.</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7445036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2938</TotalTime>
  <Words>1524</Words>
  <Application>Microsoft Office PowerPoint</Application>
  <PresentationFormat>Widescreen</PresentationFormat>
  <Paragraphs>339</Paragraphs>
  <Slides>12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Crimson Pro 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MahRukh</dc:creator>
  <cp:lastModifiedBy>MahRukh</cp:lastModifiedBy>
  <cp:revision>82</cp:revision>
  <dcterms:created xsi:type="dcterms:W3CDTF">2026-08-07T04:44:08Z</dcterms:created>
  <dcterms:modified xsi:type="dcterms:W3CDTF">2026-08-15T08:17:05Z</dcterms:modified>
</cp:coreProperties>
</file>